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firm writes about technology for business leaders. The content team asked three simple questions: what is the market writing about, where is our library thin, and can we search our own work with sources. Data choice: the brief did not say which dataset is internal, so I chose based on what each one contains. AG News comes from 2,000+ sources, so it stands for the market. CNN/DailyMail has full articles, which is what a library looks like and what an assistant needs to quote from. I did not use GDELT: its free API gives only recent headlines with no text, from a different time period, so the comparison would not be fair. The firm only covers tech, so I filtered both sides to tech news with the same rule. That keeps the comparison fair. The pipeline runs left to right: clean, keep tech, find topics, compare coverage, then the assistant and its evaluation. On the right are the headline results we will walk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market writes about. I took 31,007 tech news items and let BERTopic group them by meaning. It found 32 topics. The biggest are mobile and wireless, cybersecurity, Apple iTunes, Intel and AMD chips, and search engines. Why BERTopic: the brief asks for topic modeling, clustering, embeddings or keyword extraction. BERTopic does all of these in one tool and works well on short news text. The tech filter: I wrote a short description for tech, business, science and general news, and each item goes to the closest one. Trade-off: a zero-shot model like BART would be more accurate but takes hours on a laptop, so I chose speed and listed BART as the upgrade. Effort: the summary numbers looked fine, but by reading actual rows I found leftover HTML in 6% of them and cleaned it to zero. The first run had 7 non-tech topics out of 39. I found the cause in my filter wording, fixed it, and now only 2 of 32 are non-tech. Those two are flagged and left out of the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compare the market with our library, topic by topic. Each pair of bars is one topic: navy is its share of market news, orange is its share of our library. How: I mapped our articles onto the same 32 topics, so both sides use one yardstick. If I ran topic modeling separately on our library, the topics would not match and could not be compared. Why shares and not counts: the market side is about five times bigger, so raw counts would make every topic look like a gap. The threshold: an article only counts for a topic if it is similar enough. I tested 0.40, 0.45 and 0.50 and read sample matches for each. 0.40 let in wrong matches, 0.50 left too few of our articles to trust. 0.45 was the balance. What it shows: the biggest gaps are enterprise software and hardware, like Intel and AMD chips, Oracle and Windows Server. They matter to business leaders but are almost missing from our library. Cybersecurity is the opposite: 6 percent of the market but 23 percent of our library, partly because that topic also catches surveillance and crime stories. Caveat: the market news is from 2004 to 2005 and our library is from later, so some gaps are partly a timing effect. Use this as a shortlist.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assistant. It works in five steps: take the question, search our library, keep the 5 best articles, let GPT-4o-mini answer only from those, and show the sources as [1], [2]. If the answer is not in the library, it says "Not found in the library" instead of guessing. Design choices: articles are split into 150-word chunks because the embedding model only reads about 256 tokens. I keep only one chunk per article, so one long article cannot fill all 5 slots. Temperature is 0 so answers stay steady. Gap questions like "where are our biggest gaps" cannot be answered by text search, because search cannot rank or count. So they go to a second tool that reads the gap table from Part 3. Evaluation: 10 questions. 7 fact questions where I know the right article, 1 gap question, and 2 questions the library cannot answer, to test for made-up answers. I checked every answer by hand against its source. Results: right article found 7 of 7, citations correct 86 percent (the one miss was a correct answer that forgot its [1] marker), zero made-up answers, and both out-of-scope questions declined. Effort: I caught the gap tool giving a different answer from Part 3 and fixed it so the two can never disagree. I fixed a crash when the model kept searching on an unanswerable question. And since AI wording changes slightly between runs, I re-checked every label on the final run. Trade-off: I used 15,000 of the 50,000 tech articles so it runs on a laptop in reasonable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moves for the content team. One, write next: the top gaps share one theme, enterprise technology for business leaders. An enterprise software series on Oracle, Windows Server and Linux, and a chips and hardware series on Intel, AMD, servers and storage. We can move some effort from cybersecurity, where we already write far more than the market, to these gaps. Two, invest in: the biggest single upgrade is a current, dated news feed like GDELT. It removes the timing gap between the datasets and lets us spot emerging topics month by month. Then connect the firm's real report library, and upgrade the tech filter and the embedding model for sharper topics. Three, improve the assistant: combine keyword and vector search and add a reranker so it finds more of the right articles, let it answer "how much do we have on X", re-ask automatically when a citation is missing, and build a bigger test set together with the content team. Close: everything runs end to end on a laptop, and saved results make reruns quick, so this can become a regular "what should we write next" tool once it runs on current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2191927" cy="63477"/>
          </a:xfrm>
          <a:prstGeom prst="rect">
            <a:avLst/>
          </a:prstGeom>
          <a:solidFill>
            <a:srgbClr val="14284B"/>
          </a:solidFill>
          <a:ln/>
        </p:spPr>
      </p:sp>
      <p:sp>
        <p:nvSpPr>
          <p:cNvPr id="3" name="Text 1"/>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F"/>
                </a:solidFill>
                <a:latin typeface="Arial" pitchFamily="34" charset="0"/>
                <a:ea typeface="Arial" pitchFamily="34" charset="-122"/>
                <a:cs typeface="Arial" pitchFamily="34" charset="-120"/>
              </a:rPr>
              <a:t>CASE STUDY · CONTENT STRATEGY</a:t>
            </a:r>
            <a:endParaRPr lang="en-US" sz="1200" dirty="0"/>
          </a:p>
        </p:txBody>
      </p:sp>
      <p:sp>
        <p:nvSpPr>
          <p:cNvPr id="4" name="Text 2"/>
          <p:cNvSpPr/>
          <p:nvPr/>
        </p:nvSpPr>
        <p:spPr>
          <a:xfrm>
            <a:off x="812750" y="1102209"/>
            <a:ext cx="10883421" cy="416528"/>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84B"/>
                </a:solidFill>
                <a:latin typeface="Arial" pitchFamily="34" charset="0"/>
                <a:ea typeface="Arial" pitchFamily="34" charset="-122"/>
                <a:cs typeface="Arial" pitchFamily="34" charset="-120"/>
              </a:rPr>
              <a:t>Three questions, one working pipeline</a:t>
            </a:r>
            <a:endParaRPr lang="en-US" sz="2800" dirty="0"/>
          </a:p>
        </p:txBody>
      </p:sp>
      <p:sp>
        <p:nvSpPr>
          <p:cNvPr id="5" name="Shape 3"/>
          <p:cNvSpPr/>
          <p:nvPr/>
        </p:nvSpPr>
        <p:spPr>
          <a:xfrm>
            <a:off x="812750" y="1747322"/>
            <a:ext cx="3386634" cy="2821981"/>
          </a:xfrm>
          <a:prstGeom prst="roundRect">
            <a:avLst>
              <a:gd name="adj" fmla="val 900"/>
            </a:avLst>
          </a:prstGeom>
          <a:solidFill>
            <a:srgbClr val="F0F3F7"/>
          </a:solidFill>
          <a:ln/>
        </p:spPr>
      </p:sp>
      <p:sp>
        <p:nvSpPr>
          <p:cNvPr id="6" name="Shape 4"/>
          <p:cNvSpPr/>
          <p:nvPr/>
        </p:nvSpPr>
        <p:spPr>
          <a:xfrm>
            <a:off x="812750" y="1747322"/>
            <a:ext cx="3386634" cy="2821981"/>
          </a:xfrm>
          <a:custGeom>
            <a:avLst/>
            <a:gdLst/>
            <a:ahLst/>
            <a:cxnLst/>
            <a:rect l="l" t="t" r="r" b="b"/>
            <a:pathLst>
              <a:path w="3386634" h="2821981">
                <a:moveTo>
                  <a:pt x="0" y="38100"/>
                </a:moveTo>
                <a:lnTo>
                  <a:pt x="0" y="25400"/>
                </a:lnTo>
                <a:arcTo hR="25400" wR="25400" stAng="10800000" swAng="5400000"/>
                <a:lnTo>
                  <a:pt x="3361234" y="0"/>
                </a:lnTo>
                <a:arcTo hR="25400" wR="25400" stAng="16200000" swAng="5400000"/>
                <a:lnTo>
                  <a:pt x="3386634" y="38100"/>
                </a:lnTo>
                <a:lnTo>
                  <a:pt x="0" y="38100"/>
                </a:lnTo>
                <a:close/>
              </a:path>
            </a:pathLst>
          </a:custGeom>
          <a:solidFill>
            <a:srgbClr val="14284B"/>
          </a:solidFill>
          <a:ln/>
        </p:spPr>
      </p:sp>
      <p:sp>
        <p:nvSpPr>
          <p:cNvPr id="7" name="Text 5"/>
          <p:cNvSpPr/>
          <p:nvPr/>
        </p:nvSpPr>
        <p:spPr>
          <a:xfrm>
            <a:off x="1041298" y="2009684"/>
            <a:ext cx="301742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84B"/>
                </a:solidFill>
                <a:latin typeface="Arial" pitchFamily="34" charset="0"/>
                <a:ea typeface="Arial" pitchFamily="34" charset="-122"/>
                <a:cs typeface="Arial" pitchFamily="34" charset="-120"/>
              </a:rPr>
              <a:t>The ask</a:t>
            </a:r>
            <a:endParaRPr lang="en-US" sz="1600" dirty="0"/>
          </a:p>
        </p:txBody>
      </p:sp>
      <p:sp>
        <p:nvSpPr>
          <p:cNvPr id="8" name="Text 6"/>
          <p:cNvSpPr/>
          <p:nvPr/>
        </p:nvSpPr>
        <p:spPr>
          <a:xfrm>
            <a:off x="1041298" y="2380433"/>
            <a:ext cx="228551" cy="27432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411"/>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320643" y="2380433"/>
            <a:ext cx="2729698" cy="27432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B4658"/>
                </a:solidFill>
                <a:latin typeface="Arial" pitchFamily="34" charset="0"/>
                <a:ea typeface="Arial" pitchFamily="34" charset="-122"/>
                <a:cs typeface="Arial" pitchFamily="34" charset="-120"/>
              </a:rPr>
              <a:t>What is the market writing about?</a:t>
            </a:r>
            <a:endParaRPr lang="en-US" sz="1400" dirty="0"/>
          </a:p>
        </p:txBody>
      </p:sp>
      <p:sp>
        <p:nvSpPr>
          <p:cNvPr id="10" name="Text 8"/>
          <p:cNvSpPr/>
          <p:nvPr/>
        </p:nvSpPr>
        <p:spPr>
          <a:xfrm>
            <a:off x="1041298" y="2756315"/>
            <a:ext cx="228551" cy="27432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411"/>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320643" y="2756315"/>
            <a:ext cx="2729698" cy="27432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B4658"/>
                </a:solidFill>
                <a:latin typeface="Arial" pitchFamily="34" charset="0"/>
                <a:ea typeface="Arial" pitchFamily="34" charset="-122"/>
                <a:cs typeface="Arial" pitchFamily="34" charset="-120"/>
              </a:rPr>
              <a:t>Where is our own library thin?</a:t>
            </a:r>
            <a:endParaRPr lang="en-US" sz="1400" dirty="0"/>
          </a:p>
        </p:txBody>
      </p:sp>
      <p:sp>
        <p:nvSpPr>
          <p:cNvPr id="12" name="Text 10"/>
          <p:cNvSpPr/>
          <p:nvPr/>
        </p:nvSpPr>
        <p:spPr>
          <a:xfrm>
            <a:off x="1041298" y="3132197"/>
            <a:ext cx="228551" cy="50544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411"/>
                </a:solidFill>
                <a:latin typeface="Arial" pitchFamily="34" charset="0"/>
                <a:ea typeface="Arial" pitchFamily="34" charset="-122"/>
                <a:cs typeface="Arial" pitchFamily="34" charset="-120"/>
              </a:rPr>
              <a:t>3</a:t>
            </a:r>
            <a:endParaRPr lang="en-US" sz="1400" dirty="0"/>
          </a:p>
        </p:txBody>
      </p:sp>
      <p:sp>
        <p:nvSpPr>
          <p:cNvPr id="13" name="Text 11"/>
          <p:cNvSpPr/>
          <p:nvPr/>
        </p:nvSpPr>
        <p:spPr>
          <a:xfrm>
            <a:off x="1320643" y="3132197"/>
            <a:ext cx="2729698" cy="50544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B4658"/>
                </a:solidFill>
                <a:latin typeface="Arial" pitchFamily="34" charset="0"/>
                <a:ea typeface="Arial" pitchFamily="34" charset="-122"/>
                <a:cs typeface="Arial" pitchFamily="34" charset="-120"/>
              </a:rPr>
              <a:t>Can we search our own work, with sources?</a:t>
            </a:r>
            <a:endParaRPr lang="en-US" sz="1400" dirty="0"/>
          </a:p>
        </p:txBody>
      </p:sp>
      <p:sp>
        <p:nvSpPr>
          <p:cNvPr id="14" name="Shape 12"/>
          <p:cNvSpPr/>
          <p:nvPr/>
        </p:nvSpPr>
        <p:spPr>
          <a:xfrm>
            <a:off x="4402571" y="1747322"/>
            <a:ext cx="3386710" cy="2821981"/>
          </a:xfrm>
          <a:prstGeom prst="roundRect">
            <a:avLst>
              <a:gd name="adj" fmla="val 900"/>
            </a:avLst>
          </a:prstGeom>
          <a:solidFill>
            <a:srgbClr val="F0F3F7"/>
          </a:solidFill>
          <a:ln/>
        </p:spPr>
      </p:sp>
      <p:sp>
        <p:nvSpPr>
          <p:cNvPr id="15" name="Shape 13"/>
          <p:cNvSpPr/>
          <p:nvPr/>
        </p:nvSpPr>
        <p:spPr>
          <a:xfrm>
            <a:off x="4402571" y="1747322"/>
            <a:ext cx="3386710" cy="2821981"/>
          </a:xfrm>
          <a:custGeom>
            <a:avLst/>
            <a:gdLst/>
            <a:ahLst/>
            <a:cxnLst/>
            <a:rect l="l" t="t" r="r" b="b"/>
            <a:pathLst>
              <a:path w="3386710" h="2821981">
                <a:moveTo>
                  <a:pt x="0" y="38100"/>
                </a:moveTo>
                <a:lnTo>
                  <a:pt x="0" y="25400"/>
                </a:lnTo>
                <a:arcTo hR="25400" wR="25400" stAng="10800000" swAng="5400000"/>
                <a:lnTo>
                  <a:pt x="3361310" y="0"/>
                </a:lnTo>
                <a:arcTo hR="25400" wR="25400" stAng="16200000" swAng="5400000"/>
                <a:lnTo>
                  <a:pt x="3386710" y="38100"/>
                </a:lnTo>
                <a:lnTo>
                  <a:pt x="0" y="38100"/>
                </a:lnTo>
                <a:close/>
              </a:path>
            </a:pathLst>
          </a:custGeom>
          <a:solidFill>
            <a:srgbClr val="14284B"/>
          </a:solidFill>
          <a:ln/>
        </p:spPr>
      </p:sp>
      <p:sp>
        <p:nvSpPr>
          <p:cNvPr id="16" name="Text 14"/>
          <p:cNvSpPr/>
          <p:nvPr/>
        </p:nvSpPr>
        <p:spPr>
          <a:xfrm>
            <a:off x="4631119" y="2009684"/>
            <a:ext cx="301750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84B"/>
                </a:solidFill>
                <a:latin typeface="Arial" pitchFamily="34" charset="0"/>
                <a:ea typeface="Arial" pitchFamily="34" charset="-122"/>
                <a:cs typeface="Arial" pitchFamily="34" charset="-120"/>
              </a:rPr>
              <a:t>The data</a:t>
            </a:r>
            <a:endParaRPr lang="en-US" sz="1600" dirty="0"/>
          </a:p>
        </p:txBody>
      </p:sp>
      <p:sp>
        <p:nvSpPr>
          <p:cNvPr id="17" name="Text 15"/>
          <p:cNvSpPr/>
          <p:nvPr/>
        </p:nvSpPr>
        <p:spPr>
          <a:xfrm>
            <a:off x="4631119" y="2380433"/>
            <a:ext cx="3017501" cy="25643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4B"/>
                </a:solidFill>
                <a:latin typeface="Arial" pitchFamily="34" charset="0"/>
                <a:ea typeface="Arial" pitchFamily="34" charset="-122"/>
                <a:cs typeface="Arial" pitchFamily="34" charset="-120"/>
              </a:rPr>
              <a:t>Market (external): AG News</a:t>
            </a:r>
            <a:endParaRPr lang="en-US" sz="1300" dirty="0"/>
          </a:p>
        </p:txBody>
      </p:sp>
      <p:sp>
        <p:nvSpPr>
          <p:cNvPr id="18" name="Text 16"/>
          <p:cNvSpPr/>
          <p:nvPr/>
        </p:nvSpPr>
        <p:spPr>
          <a:xfrm>
            <a:off x="4631119" y="2636833"/>
            <a:ext cx="3017501" cy="23107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658"/>
                </a:solidFill>
                <a:latin typeface="Arial" pitchFamily="34" charset="0"/>
                <a:ea typeface="Arial" pitchFamily="34" charset="-122"/>
                <a:cs typeface="Arial" pitchFamily="34" charset="-120"/>
              </a:rPr>
              <a:t>63,396 news items from 2,000+ sources</a:t>
            </a:r>
            <a:endParaRPr lang="en-US" sz="1200" dirty="0"/>
          </a:p>
        </p:txBody>
      </p:sp>
      <p:sp>
        <p:nvSpPr>
          <p:cNvPr id="19" name="Text 17"/>
          <p:cNvSpPr/>
          <p:nvPr/>
        </p:nvSpPr>
        <p:spPr>
          <a:xfrm>
            <a:off x="4631119" y="2969466"/>
            <a:ext cx="3017501" cy="25643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4B"/>
                </a:solidFill>
                <a:latin typeface="Arial" pitchFamily="34" charset="0"/>
                <a:ea typeface="Arial" pitchFamily="34" charset="-122"/>
                <a:cs typeface="Arial" pitchFamily="34" charset="-120"/>
              </a:rPr>
              <a:t>Our library (internal): CNN/DailyMail</a:t>
            </a:r>
            <a:endParaRPr lang="en-US" sz="1300" dirty="0"/>
          </a:p>
        </p:txBody>
      </p:sp>
      <p:sp>
        <p:nvSpPr>
          <p:cNvPr id="20" name="Text 18"/>
          <p:cNvSpPr/>
          <p:nvPr/>
        </p:nvSpPr>
        <p:spPr>
          <a:xfrm>
            <a:off x="4631119" y="3225865"/>
            <a:ext cx="3017501" cy="23107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658"/>
                </a:solidFill>
                <a:latin typeface="Arial" pitchFamily="34" charset="0"/>
                <a:ea typeface="Arial" pitchFamily="34" charset="-122"/>
                <a:cs typeface="Arial" pitchFamily="34" charset="-120"/>
              </a:rPr>
              <a:t>306,913 full-length articles</a:t>
            </a:r>
            <a:endParaRPr lang="en-US" sz="1200" dirty="0"/>
          </a:p>
        </p:txBody>
      </p:sp>
      <p:sp>
        <p:nvSpPr>
          <p:cNvPr id="21" name="Text 19"/>
          <p:cNvSpPr/>
          <p:nvPr/>
        </p:nvSpPr>
        <p:spPr>
          <a:xfrm>
            <a:off x="4631119" y="3558498"/>
            <a:ext cx="3017501" cy="43675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F6B7C"/>
                </a:solidFill>
                <a:latin typeface="Arial" pitchFamily="34" charset="0"/>
                <a:ea typeface="Arial" pitchFamily="34" charset="-122"/>
                <a:cs typeface="Arial" pitchFamily="34" charset="-120"/>
              </a:rPr>
              <a:t>Both sides filtered to tech news with the same rule, so the comparison is fair.</a:t>
            </a:r>
            <a:endParaRPr lang="en-US" sz="1200" dirty="0"/>
          </a:p>
        </p:txBody>
      </p:sp>
      <p:sp>
        <p:nvSpPr>
          <p:cNvPr id="22" name="Shape 20"/>
          <p:cNvSpPr/>
          <p:nvPr/>
        </p:nvSpPr>
        <p:spPr>
          <a:xfrm>
            <a:off x="7992468" y="1747322"/>
            <a:ext cx="3386710" cy="2821981"/>
          </a:xfrm>
          <a:prstGeom prst="roundRect">
            <a:avLst>
              <a:gd name="adj" fmla="val 900"/>
            </a:avLst>
          </a:prstGeom>
          <a:solidFill>
            <a:srgbClr val="14284B"/>
          </a:solidFill>
          <a:ln/>
        </p:spPr>
      </p:sp>
      <p:sp>
        <p:nvSpPr>
          <p:cNvPr id="23" name="Shape 21"/>
          <p:cNvSpPr/>
          <p:nvPr/>
        </p:nvSpPr>
        <p:spPr>
          <a:xfrm>
            <a:off x="7992468" y="1747322"/>
            <a:ext cx="3386710" cy="2821981"/>
          </a:xfrm>
          <a:custGeom>
            <a:avLst/>
            <a:gdLst/>
            <a:ahLst/>
            <a:cxnLst/>
            <a:rect l="l" t="t" r="r" b="b"/>
            <a:pathLst>
              <a:path w="3386710" h="2821981">
                <a:moveTo>
                  <a:pt x="0" y="38100"/>
                </a:moveTo>
                <a:lnTo>
                  <a:pt x="0" y="25400"/>
                </a:lnTo>
                <a:arcTo hR="25400" wR="25400" stAng="10800000" swAng="5400000"/>
                <a:lnTo>
                  <a:pt x="3361310" y="0"/>
                </a:lnTo>
                <a:arcTo hR="25400" wR="25400" stAng="16200000" swAng="5400000"/>
                <a:lnTo>
                  <a:pt x="3386710" y="38100"/>
                </a:lnTo>
                <a:lnTo>
                  <a:pt x="0" y="38100"/>
                </a:lnTo>
                <a:close/>
              </a:path>
            </a:pathLst>
          </a:custGeom>
          <a:solidFill>
            <a:srgbClr val="D9731E"/>
          </a:solidFill>
          <a:ln/>
        </p:spPr>
      </p:sp>
      <p:sp>
        <p:nvSpPr>
          <p:cNvPr id="24" name="Text 22"/>
          <p:cNvSpPr/>
          <p:nvPr/>
        </p:nvSpPr>
        <p:spPr>
          <a:xfrm>
            <a:off x="8221016" y="2009684"/>
            <a:ext cx="301750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7"/>
                </a:solidFill>
                <a:latin typeface="Arial" pitchFamily="34" charset="0"/>
                <a:ea typeface="Arial" pitchFamily="34" charset="-122"/>
                <a:cs typeface="Arial" pitchFamily="34" charset="-120"/>
              </a:rPr>
              <a:t>The outcome</a:t>
            </a:r>
            <a:endParaRPr lang="en-US" sz="1600" dirty="0"/>
          </a:p>
        </p:txBody>
      </p:sp>
      <p:sp>
        <p:nvSpPr>
          <p:cNvPr id="25" name="Text 23"/>
          <p:cNvSpPr/>
          <p:nvPr/>
        </p:nvSpPr>
        <p:spPr>
          <a:xfrm>
            <a:off x="8221016" y="2380433"/>
            <a:ext cx="1003260"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AFAF7"/>
                </a:solidFill>
                <a:latin typeface="Arial" pitchFamily="34" charset="0"/>
                <a:ea typeface="Arial" pitchFamily="34" charset="-122"/>
                <a:cs typeface="Arial" pitchFamily="34" charset="-120"/>
              </a:rPr>
              <a:t>370K</a:t>
            </a:r>
            <a:endParaRPr lang="en-US" sz="2200" dirty="0"/>
          </a:p>
        </p:txBody>
      </p:sp>
      <p:sp>
        <p:nvSpPr>
          <p:cNvPr id="26" name="Text 24"/>
          <p:cNvSpPr/>
          <p:nvPr/>
        </p:nvSpPr>
        <p:spPr>
          <a:xfrm>
            <a:off x="9300431" y="2476970"/>
            <a:ext cx="1905704" cy="22345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E3"/>
                </a:solidFill>
                <a:latin typeface="Arial" pitchFamily="34" charset="0"/>
                <a:ea typeface="Arial" pitchFamily="34" charset="-122"/>
                <a:cs typeface="Arial" pitchFamily="34" charset="-120"/>
              </a:rPr>
              <a:t>documents processed</a:t>
            </a:r>
            <a:endParaRPr lang="en-US" sz="1200" dirty="0"/>
          </a:p>
        </p:txBody>
      </p:sp>
      <p:sp>
        <p:nvSpPr>
          <p:cNvPr id="27" name="Text 25"/>
          <p:cNvSpPr/>
          <p:nvPr/>
        </p:nvSpPr>
        <p:spPr>
          <a:xfrm>
            <a:off x="8221016" y="2901007"/>
            <a:ext cx="1003260"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AFAF7"/>
                </a:solidFill>
                <a:latin typeface="Arial" pitchFamily="34" charset="0"/>
                <a:ea typeface="Arial" pitchFamily="34" charset="-122"/>
                <a:cs typeface="Arial" pitchFamily="34" charset="-120"/>
              </a:rPr>
              <a:t>32</a:t>
            </a:r>
            <a:endParaRPr lang="en-US" sz="2200" dirty="0"/>
          </a:p>
        </p:txBody>
      </p:sp>
      <p:sp>
        <p:nvSpPr>
          <p:cNvPr id="28" name="Text 26"/>
          <p:cNvSpPr/>
          <p:nvPr/>
        </p:nvSpPr>
        <p:spPr>
          <a:xfrm>
            <a:off x="9300431" y="2898516"/>
            <a:ext cx="1905704" cy="42151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E3"/>
                </a:solidFill>
                <a:latin typeface="Arial" pitchFamily="34" charset="0"/>
                <a:ea typeface="Arial" pitchFamily="34" charset="-122"/>
                <a:cs typeface="Arial" pitchFamily="34" charset="-120"/>
              </a:rPr>
              <a:t>tech topics found and ranked by gap</a:t>
            </a:r>
            <a:endParaRPr lang="en-US" sz="1200" dirty="0"/>
          </a:p>
        </p:txBody>
      </p:sp>
      <p:sp>
        <p:nvSpPr>
          <p:cNvPr id="29" name="Text 27"/>
          <p:cNvSpPr/>
          <p:nvPr/>
        </p:nvSpPr>
        <p:spPr>
          <a:xfrm>
            <a:off x="8221016" y="3424071"/>
            <a:ext cx="1003260"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AFAF7"/>
                </a:solidFill>
                <a:latin typeface="Arial" pitchFamily="34" charset="0"/>
                <a:ea typeface="Arial" pitchFamily="34" charset="-122"/>
                <a:cs typeface="Arial" pitchFamily="34" charset="-120"/>
              </a:rPr>
              <a:t>7/7</a:t>
            </a:r>
            <a:endParaRPr lang="en-US" sz="2200" dirty="0"/>
          </a:p>
        </p:txBody>
      </p:sp>
      <p:sp>
        <p:nvSpPr>
          <p:cNvPr id="30" name="Text 28"/>
          <p:cNvSpPr/>
          <p:nvPr/>
        </p:nvSpPr>
        <p:spPr>
          <a:xfrm>
            <a:off x="9300431" y="3421580"/>
            <a:ext cx="1905704" cy="42151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E3"/>
                </a:solidFill>
                <a:latin typeface="Arial" pitchFamily="34" charset="0"/>
                <a:ea typeface="Arial" pitchFamily="34" charset="-122"/>
                <a:cs typeface="Arial" pitchFamily="34" charset="-120"/>
              </a:rPr>
              <a:t>right article found by the assistant</a:t>
            </a:r>
            <a:endParaRPr lang="en-US" sz="1200" dirty="0"/>
          </a:p>
        </p:txBody>
      </p:sp>
      <p:sp>
        <p:nvSpPr>
          <p:cNvPr id="31" name="Text 29"/>
          <p:cNvSpPr/>
          <p:nvPr/>
        </p:nvSpPr>
        <p:spPr>
          <a:xfrm>
            <a:off x="8221016" y="3947135"/>
            <a:ext cx="1003260"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AFAF7"/>
                </a:solidFill>
                <a:latin typeface="Arial" pitchFamily="34" charset="0"/>
                <a:ea typeface="Arial" pitchFamily="34" charset="-122"/>
                <a:cs typeface="Arial" pitchFamily="34" charset="-120"/>
              </a:rPr>
              <a:t>0</a:t>
            </a:r>
            <a:endParaRPr lang="en-US" sz="2200" dirty="0"/>
          </a:p>
        </p:txBody>
      </p:sp>
      <p:sp>
        <p:nvSpPr>
          <p:cNvPr id="32" name="Text 30"/>
          <p:cNvSpPr/>
          <p:nvPr/>
        </p:nvSpPr>
        <p:spPr>
          <a:xfrm>
            <a:off x="9300431" y="3944644"/>
            <a:ext cx="1905704" cy="42151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E3"/>
                </a:solidFill>
                <a:latin typeface="Arial" pitchFamily="34" charset="0"/>
                <a:ea typeface="Arial" pitchFamily="34" charset="-122"/>
                <a:cs typeface="Arial" pitchFamily="34" charset="-120"/>
              </a:rPr>
              <a:t>made-up answers in testing</a:t>
            </a:r>
            <a:endParaRPr lang="en-US" sz="1200" dirty="0"/>
          </a:p>
        </p:txBody>
      </p:sp>
      <p:sp>
        <p:nvSpPr>
          <p:cNvPr id="33" name="Text 31"/>
          <p:cNvSpPr/>
          <p:nvPr/>
        </p:nvSpPr>
        <p:spPr>
          <a:xfrm>
            <a:off x="812750" y="4823287"/>
            <a:ext cx="10883421" cy="23870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B7C"/>
                </a:solidFill>
                <a:latin typeface="Arial" pitchFamily="34" charset="0"/>
                <a:ea typeface="Arial" pitchFamily="34" charset="-122"/>
                <a:cs typeface="Arial" pitchFamily="34" charset="-120"/>
              </a:rPr>
              <a:t>HOW IT WORKS</a:t>
            </a:r>
            <a:endParaRPr lang="en-US" sz="1200" dirty="0"/>
          </a:p>
        </p:txBody>
      </p:sp>
      <p:sp>
        <p:nvSpPr>
          <p:cNvPr id="34" name="Shape 32"/>
          <p:cNvSpPr/>
          <p:nvPr/>
        </p:nvSpPr>
        <p:spPr>
          <a:xfrm>
            <a:off x="812750" y="5125427"/>
            <a:ext cx="973745" cy="390977"/>
          </a:xfrm>
          <a:prstGeom prst="roundRect">
            <a:avLst>
              <a:gd name="adj" fmla="val 6497"/>
            </a:avLst>
          </a:prstGeom>
          <a:solidFill>
            <a:srgbClr val="14284B"/>
          </a:solidFill>
          <a:ln/>
        </p:spPr>
      </p:sp>
      <p:sp>
        <p:nvSpPr>
          <p:cNvPr id="35" name="Text 33"/>
          <p:cNvSpPr/>
          <p:nvPr/>
        </p:nvSpPr>
        <p:spPr>
          <a:xfrm>
            <a:off x="914350" y="5214327"/>
            <a:ext cx="821345" cy="238577"/>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AFAF7"/>
                </a:solidFill>
                <a:latin typeface="Arial" pitchFamily="34" charset="0"/>
                <a:ea typeface="Arial" pitchFamily="34" charset="-122"/>
                <a:cs typeface="Arial" pitchFamily="34" charset="-120"/>
              </a:rPr>
              <a:t>Clean data</a:t>
            </a:r>
            <a:endParaRPr lang="en-US" sz="1200" dirty="0"/>
          </a:p>
        </p:txBody>
      </p:sp>
      <p:pic>
        <p:nvPicPr>
          <p:cNvPr id="36" name="Image 0" descr="arrow-right">    </p:cNvPr>
          <p:cNvPicPr>
            <a:picLocks noChangeAspect="1"/>
          </p:cNvPicPr>
          <p:nvPr/>
        </p:nvPicPr>
        <p:blipFill>
          <a:blip r:embed="rId1"/>
          <a:srcRect l="0" r="0" t="0" b="0"/>
          <a:stretch/>
        </p:blipFill>
        <p:spPr>
          <a:xfrm>
            <a:off x="1849972" y="5270118"/>
            <a:ext cx="203187" cy="101594"/>
          </a:xfrm>
          <a:prstGeom prst="rect">
            <a:avLst/>
          </a:prstGeom>
        </p:spPr>
      </p:pic>
      <p:sp>
        <p:nvSpPr>
          <p:cNvPr id="37" name="Shape 34"/>
          <p:cNvSpPr/>
          <p:nvPr/>
        </p:nvSpPr>
        <p:spPr>
          <a:xfrm>
            <a:off x="2116637" y="5125427"/>
            <a:ext cx="931402" cy="390977"/>
          </a:xfrm>
          <a:prstGeom prst="roundRect">
            <a:avLst>
              <a:gd name="adj" fmla="val 6497"/>
            </a:avLst>
          </a:prstGeom>
          <a:solidFill>
            <a:srgbClr val="14284B"/>
          </a:solidFill>
          <a:ln/>
        </p:spPr>
      </p:sp>
      <p:sp>
        <p:nvSpPr>
          <p:cNvPr id="38" name="Text 35"/>
          <p:cNvSpPr/>
          <p:nvPr/>
        </p:nvSpPr>
        <p:spPr>
          <a:xfrm>
            <a:off x="2218237" y="5214327"/>
            <a:ext cx="779002" cy="238577"/>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AFAF7"/>
                </a:solidFill>
                <a:latin typeface="Arial" pitchFamily="34" charset="0"/>
                <a:ea typeface="Arial" pitchFamily="34" charset="-122"/>
                <a:cs typeface="Arial" pitchFamily="34" charset="-120"/>
              </a:rPr>
              <a:t>Keep tech</a:t>
            </a:r>
            <a:endParaRPr lang="en-US" sz="1200" dirty="0"/>
          </a:p>
        </p:txBody>
      </p:sp>
      <p:pic>
        <p:nvPicPr>
          <p:cNvPr id="39" name="Image 1" descr="arrow-right">    </p:cNvPr>
          <p:cNvPicPr>
            <a:picLocks noChangeAspect="1"/>
          </p:cNvPicPr>
          <p:nvPr/>
        </p:nvPicPr>
        <p:blipFill>
          <a:blip r:embed="rId2"/>
          <a:srcRect l="0" r="0" t="0" b="0"/>
          <a:stretch/>
        </p:blipFill>
        <p:spPr>
          <a:xfrm>
            <a:off x="3111516" y="5270118"/>
            <a:ext cx="203187" cy="101594"/>
          </a:xfrm>
          <a:prstGeom prst="rect">
            <a:avLst/>
          </a:prstGeom>
        </p:spPr>
      </p:pic>
      <p:sp>
        <p:nvSpPr>
          <p:cNvPr id="40" name="Shape 36"/>
          <p:cNvSpPr/>
          <p:nvPr/>
        </p:nvSpPr>
        <p:spPr>
          <a:xfrm>
            <a:off x="3378180" y="5125427"/>
            <a:ext cx="1015711" cy="390977"/>
          </a:xfrm>
          <a:prstGeom prst="roundRect">
            <a:avLst>
              <a:gd name="adj" fmla="val 6497"/>
            </a:avLst>
          </a:prstGeom>
          <a:solidFill>
            <a:srgbClr val="14284B"/>
          </a:solidFill>
          <a:ln/>
        </p:spPr>
      </p:sp>
      <p:sp>
        <p:nvSpPr>
          <p:cNvPr id="41" name="Text 37"/>
          <p:cNvSpPr/>
          <p:nvPr/>
        </p:nvSpPr>
        <p:spPr>
          <a:xfrm>
            <a:off x="3479780" y="5214327"/>
            <a:ext cx="863311" cy="238577"/>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AFAF7"/>
                </a:solidFill>
                <a:latin typeface="Arial" pitchFamily="34" charset="0"/>
                <a:ea typeface="Arial" pitchFamily="34" charset="-122"/>
                <a:cs typeface="Arial" pitchFamily="34" charset="-120"/>
              </a:rPr>
              <a:t>Find topics</a:t>
            </a:r>
            <a:endParaRPr lang="en-US" sz="1200" dirty="0"/>
          </a:p>
        </p:txBody>
      </p:sp>
      <p:pic>
        <p:nvPicPr>
          <p:cNvPr id="42" name="Image 2" descr="arrow-right">    </p:cNvPr>
          <p:cNvPicPr>
            <a:picLocks noChangeAspect="1"/>
          </p:cNvPicPr>
          <p:nvPr/>
        </p:nvPicPr>
        <p:blipFill>
          <a:blip r:embed="rId3"/>
          <a:srcRect l="0" r="0" t="0" b="0"/>
          <a:stretch/>
        </p:blipFill>
        <p:spPr>
          <a:xfrm>
            <a:off x="4457369" y="5270118"/>
            <a:ext cx="203187" cy="101594"/>
          </a:xfrm>
          <a:prstGeom prst="rect">
            <a:avLst/>
          </a:prstGeom>
        </p:spPr>
      </p:pic>
      <p:sp>
        <p:nvSpPr>
          <p:cNvPr id="43" name="Shape 38"/>
          <p:cNvSpPr/>
          <p:nvPr/>
        </p:nvSpPr>
        <p:spPr>
          <a:xfrm>
            <a:off x="4724033" y="5125427"/>
            <a:ext cx="1575005" cy="390977"/>
          </a:xfrm>
          <a:prstGeom prst="roundRect">
            <a:avLst>
              <a:gd name="adj" fmla="val 6497"/>
            </a:avLst>
          </a:prstGeom>
          <a:solidFill>
            <a:srgbClr val="14284B"/>
          </a:solidFill>
          <a:ln/>
        </p:spPr>
      </p:sp>
      <p:sp>
        <p:nvSpPr>
          <p:cNvPr id="44" name="Text 39"/>
          <p:cNvSpPr/>
          <p:nvPr/>
        </p:nvSpPr>
        <p:spPr>
          <a:xfrm>
            <a:off x="4825633" y="5214327"/>
            <a:ext cx="1422605" cy="238577"/>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AFAF7"/>
                </a:solidFill>
                <a:latin typeface="Arial" pitchFamily="34" charset="0"/>
                <a:ea typeface="Arial" pitchFamily="34" charset="-122"/>
                <a:cs typeface="Arial" pitchFamily="34" charset="-120"/>
              </a:rPr>
              <a:t>Compare coverage</a:t>
            </a:r>
            <a:endParaRPr lang="en-US" sz="1200" dirty="0"/>
          </a:p>
        </p:txBody>
      </p:sp>
      <p:pic>
        <p:nvPicPr>
          <p:cNvPr id="45" name="Image 3" descr="arrow-right">    </p:cNvPr>
          <p:cNvPicPr>
            <a:picLocks noChangeAspect="1"/>
          </p:cNvPicPr>
          <p:nvPr/>
        </p:nvPicPr>
        <p:blipFill>
          <a:blip r:embed="rId4"/>
          <a:srcRect l="0" r="0" t="0" b="0"/>
          <a:stretch/>
        </p:blipFill>
        <p:spPr>
          <a:xfrm>
            <a:off x="6362515" y="5270118"/>
            <a:ext cx="203187" cy="101594"/>
          </a:xfrm>
          <a:prstGeom prst="rect">
            <a:avLst/>
          </a:prstGeom>
        </p:spPr>
      </p:pic>
      <p:sp>
        <p:nvSpPr>
          <p:cNvPr id="46" name="Shape 40"/>
          <p:cNvSpPr/>
          <p:nvPr/>
        </p:nvSpPr>
        <p:spPr>
          <a:xfrm>
            <a:off x="6629180" y="5125427"/>
            <a:ext cx="1286904" cy="390977"/>
          </a:xfrm>
          <a:prstGeom prst="roundRect">
            <a:avLst>
              <a:gd name="adj" fmla="val 6497"/>
            </a:avLst>
          </a:prstGeom>
          <a:solidFill>
            <a:srgbClr val="14284B"/>
          </a:solidFill>
          <a:ln/>
        </p:spPr>
      </p:sp>
      <p:sp>
        <p:nvSpPr>
          <p:cNvPr id="47" name="Text 41"/>
          <p:cNvSpPr/>
          <p:nvPr/>
        </p:nvSpPr>
        <p:spPr>
          <a:xfrm>
            <a:off x="6730780" y="5214327"/>
            <a:ext cx="1134504" cy="238577"/>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AFAF7"/>
                </a:solidFill>
                <a:latin typeface="Arial" pitchFamily="34" charset="0"/>
                <a:ea typeface="Arial" pitchFamily="34" charset="-122"/>
                <a:cs typeface="Arial" pitchFamily="34" charset="-120"/>
              </a:rPr>
              <a:t>Build assistant</a:t>
            </a:r>
            <a:endParaRPr lang="en-US" sz="1200" dirty="0"/>
          </a:p>
        </p:txBody>
      </p:sp>
      <p:pic>
        <p:nvPicPr>
          <p:cNvPr id="48" name="Image 4" descr="arrow-right">    </p:cNvPr>
          <p:cNvPicPr>
            <a:picLocks noChangeAspect="1"/>
          </p:cNvPicPr>
          <p:nvPr/>
        </p:nvPicPr>
        <p:blipFill>
          <a:blip r:embed="rId5"/>
          <a:srcRect l="0" r="0" t="0" b="0"/>
          <a:stretch/>
        </p:blipFill>
        <p:spPr>
          <a:xfrm>
            <a:off x="7979561" y="5270118"/>
            <a:ext cx="203187" cy="101594"/>
          </a:xfrm>
          <a:prstGeom prst="rect">
            <a:avLst/>
          </a:prstGeom>
        </p:spPr>
      </p:pic>
      <p:sp>
        <p:nvSpPr>
          <p:cNvPr id="49" name="Shape 42"/>
          <p:cNvSpPr/>
          <p:nvPr/>
        </p:nvSpPr>
        <p:spPr>
          <a:xfrm>
            <a:off x="8246226" y="5125427"/>
            <a:ext cx="829883" cy="390977"/>
          </a:xfrm>
          <a:prstGeom prst="roundRect">
            <a:avLst>
              <a:gd name="adj" fmla="val 6497"/>
            </a:avLst>
          </a:prstGeom>
          <a:solidFill>
            <a:srgbClr val="14284B"/>
          </a:solidFill>
          <a:ln/>
        </p:spPr>
      </p:sp>
      <p:sp>
        <p:nvSpPr>
          <p:cNvPr id="50" name="Text 43"/>
          <p:cNvSpPr/>
          <p:nvPr/>
        </p:nvSpPr>
        <p:spPr>
          <a:xfrm>
            <a:off x="8347826" y="5214327"/>
            <a:ext cx="677483" cy="238577"/>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AFAF7"/>
                </a:solidFill>
                <a:latin typeface="Arial" pitchFamily="34" charset="0"/>
                <a:ea typeface="Arial" pitchFamily="34" charset="-122"/>
                <a:cs typeface="Arial" pitchFamily="34" charset="-120"/>
              </a:rPr>
              <a:t>Evaluate</a:t>
            </a:r>
            <a:endParaRPr lang="en-US" sz="1200" dirty="0"/>
          </a:p>
        </p:txBody>
      </p:sp>
      <p:sp>
        <p:nvSpPr>
          <p:cNvPr id="51" name="Text 44"/>
          <p:cNvSpPr/>
          <p:nvPr/>
        </p:nvSpPr>
        <p:spPr>
          <a:xfrm>
            <a:off x="812750" y="6238278"/>
            <a:ext cx="308809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Content gap analysis and research assistant</a:t>
            </a:r>
            <a:endParaRPr lang="en-US" sz="1200" dirty="0"/>
          </a:p>
        </p:txBody>
      </p:sp>
      <p:sp>
        <p:nvSpPr>
          <p:cNvPr id="52" name="Text 45"/>
          <p:cNvSpPr/>
          <p:nvPr/>
        </p:nvSpPr>
        <p:spPr>
          <a:xfrm>
            <a:off x="11082624" y="6238278"/>
            <a:ext cx="34727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1 / 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2191927" cy="63477"/>
          </a:xfrm>
          <a:prstGeom prst="rect">
            <a:avLst/>
          </a:prstGeom>
          <a:solidFill>
            <a:srgbClr val="14284B"/>
          </a:solidFill>
          <a:ln/>
        </p:spPr>
      </p:sp>
      <p:sp>
        <p:nvSpPr>
          <p:cNvPr id="3" name="Text 1"/>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8F"/>
                </a:solidFill>
                <a:latin typeface="Arial" pitchFamily="34" charset="0"/>
                <a:ea typeface="Arial" pitchFamily="34" charset="-122"/>
                <a:cs typeface="Arial" pitchFamily="34" charset="-120"/>
              </a:rPr>
              <a:t>PART 1 · TOPIC DISCOVERY</a:t>
            </a:r>
            <a:endParaRPr lang="en-US" sz="1200" dirty="0"/>
          </a:p>
        </p:txBody>
      </p:sp>
      <p:sp>
        <p:nvSpPr>
          <p:cNvPr id="4" name="Text 2"/>
          <p:cNvSpPr/>
          <p:nvPr/>
        </p:nvSpPr>
        <p:spPr>
          <a:xfrm>
            <a:off x="812750" y="1102209"/>
            <a:ext cx="10883421" cy="416528"/>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84B"/>
                </a:solidFill>
                <a:latin typeface="Arial" pitchFamily="34" charset="0"/>
                <a:ea typeface="Arial" pitchFamily="34" charset="-122"/>
                <a:cs typeface="Arial" pitchFamily="34" charset="-120"/>
              </a:rPr>
              <a:t>Market tech news falls into 32 clear topics</a:t>
            </a:r>
            <a:endParaRPr lang="en-US" sz="2800" dirty="0"/>
          </a:p>
        </p:txBody>
      </p:sp>
      <p:sp>
        <p:nvSpPr>
          <p:cNvPr id="5" name="Shape 3"/>
          <p:cNvSpPr/>
          <p:nvPr/>
        </p:nvSpPr>
        <p:spPr>
          <a:xfrm>
            <a:off x="812750" y="1747322"/>
            <a:ext cx="6756512" cy="3846976"/>
          </a:xfrm>
          <a:prstGeom prst="roundRect">
            <a:avLst>
              <a:gd name="adj" fmla="val 660"/>
            </a:avLst>
          </a:prstGeom>
          <a:solidFill>
            <a:srgbClr val="F0F3F7"/>
          </a:solidFill>
          <a:ln/>
        </p:spPr>
      </p:sp>
      <p:sp>
        <p:nvSpPr>
          <p:cNvPr id="6" name="Text 4"/>
          <p:cNvSpPr/>
          <p:nvPr/>
        </p:nvSpPr>
        <p:spPr>
          <a:xfrm>
            <a:off x="1066734" y="2001306"/>
            <a:ext cx="6435999" cy="27432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4B"/>
                </a:solidFill>
                <a:latin typeface="Arial" pitchFamily="34" charset="0"/>
                <a:ea typeface="Arial" pitchFamily="34" charset="-122"/>
                <a:cs typeface="Arial" pitchFamily="34" charset="-120"/>
              </a:rPr>
              <a:t>Largest topics, as a share of market tech news</a:t>
            </a:r>
            <a:endParaRPr lang="en-US" sz="1400" dirty="0"/>
          </a:p>
        </p:txBody>
      </p:sp>
      <p:sp>
        <p:nvSpPr>
          <p:cNvPr id="7" name="Text 5"/>
          <p:cNvSpPr/>
          <p:nvPr/>
        </p:nvSpPr>
        <p:spPr>
          <a:xfrm>
            <a:off x="994345" y="2364508"/>
            <a:ext cx="2485353" cy="25643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3B4658"/>
                </a:solidFill>
                <a:latin typeface="Arial" pitchFamily="34" charset="0"/>
                <a:ea typeface="Arial" pitchFamily="34" charset="-122"/>
                <a:cs typeface="Arial" pitchFamily="34" charset="-120"/>
              </a:rPr>
              <a:t>Mobile &amp; wireless</a:t>
            </a:r>
            <a:endParaRPr lang="en-US" sz="1300" dirty="0"/>
          </a:p>
        </p:txBody>
      </p:sp>
      <p:sp>
        <p:nvSpPr>
          <p:cNvPr id="8" name="Shape 6"/>
          <p:cNvSpPr/>
          <p:nvPr/>
        </p:nvSpPr>
        <p:spPr>
          <a:xfrm>
            <a:off x="3581292" y="2391151"/>
            <a:ext cx="3047963" cy="177751"/>
          </a:xfrm>
          <a:prstGeom prst="rect">
            <a:avLst/>
          </a:prstGeom>
          <a:solidFill>
            <a:srgbClr val="14284B"/>
          </a:solidFill>
          <a:ln/>
        </p:spPr>
      </p:sp>
      <p:sp>
        <p:nvSpPr>
          <p:cNvPr id="9" name="Text 7"/>
          <p:cNvSpPr/>
          <p:nvPr/>
        </p:nvSpPr>
        <p:spPr>
          <a:xfrm>
            <a:off x="6730849" y="2373338"/>
            <a:ext cx="482838"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10.1%</a:t>
            </a:r>
            <a:endParaRPr lang="en-US" sz="1200" dirty="0"/>
          </a:p>
        </p:txBody>
      </p:sp>
      <p:sp>
        <p:nvSpPr>
          <p:cNvPr id="10" name="Text 8"/>
          <p:cNvSpPr/>
          <p:nvPr/>
        </p:nvSpPr>
        <p:spPr>
          <a:xfrm>
            <a:off x="994345" y="2709821"/>
            <a:ext cx="2485353" cy="25643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3B4658"/>
                </a:solidFill>
                <a:latin typeface="Arial" pitchFamily="34" charset="0"/>
                <a:ea typeface="Arial" pitchFamily="34" charset="-122"/>
                <a:cs typeface="Arial" pitchFamily="34" charset="-120"/>
              </a:rPr>
              <a:t>Cybersecurity</a:t>
            </a:r>
            <a:endParaRPr lang="en-US" sz="1300" dirty="0"/>
          </a:p>
        </p:txBody>
      </p:sp>
      <p:sp>
        <p:nvSpPr>
          <p:cNvPr id="11" name="Shape 9"/>
          <p:cNvSpPr/>
          <p:nvPr/>
        </p:nvSpPr>
        <p:spPr>
          <a:xfrm>
            <a:off x="3581292" y="2736464"/>
            <a:ext cx="1809742" cy="177751"/>
          </a:xfrm>
          <a:prstGeom prst="rect">
            <a:avLst/>
          </a:prstGeom>
          <a:solidFill>
            <a:srgbClr val="14284B"/>
          </a:solidFill>
          <a:ln/>
        </p:spPr>
      </p:sp>
      <p:sp>
        <p:nvSpPr>
          <p:cNvPr id="12" name="Text 10"/>
          <p:cNvSpPr/>
          <p:nvPr/>
        </p:nvSpPr>
        <p:spPr>
          <a:xfrm>
            <a:off x="5492628" y="2718651"/>
            <a:ext cx="398075"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6.0%</a:t>
            </a:r>
            <a:endParaRPr lang="en-US" sz="1200" dirty="0"/>
          </a:p>
        </p:txBody>
      </p:sp>
      <p:sp>
        <p:nvSpPr>
          <p:cNvPr id="13" name="Text 11"/>
          <p:cNvSpPr/>
          <p:nvPr/>
        </p:nvSpPr>
        <p:spPr>
          <a:xfrm>
            <a:off x="994345" y="3055134"/>
            <a:ext cx="2485353" cy="25643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3B4658"/>
                </a:solidFill>
                <a:latin typeface="Arial" pitchFamily="34" charset="0"/>
                <a:ea typeface="Arial" pitchFamily="34" charset="-122"/>
                <a:cs typeface="Arial" pitchFamily="34" charset="-120"/>
              </a:rPr>
              <a:t>Apple iTunes &amp; music</a:t>
            </a:r>
            <a:endParaRPr lang="en-US" sz="1300" dirty="0"/>
          </a:p>
        </p:txBody>
      </p:sp>
      <p:sp>
        <p:nvSpPr>
          <p:cNvPr id="14" name="Shape 12"/>
          <p:cNvSpPr/>
          <p:nvPr/>
        </p:nvSpPr>
        <p:spPr>
          <a:xfrm>
            <a:off x="3581292" y="3081777"/>
            <a:ext cx="1689053" cy="177751"/>
          </a:xfrm>
          <a:prstGeom prst="rect">
            <a:avLst/>
          </a:prstGeom>
          <a:solidFill>
            <a:srgbClr val="14284B"/>
          </a:solidFill>
          <a:ln/>
        </p:spPr>
      </p:sp>
      <p:sp>
        <p:nvSpPr>
          <p:cNvPr id="15" name="Text 13"/>
          <p:cNvSpPr/>
          <p:nvPr/>
        </p:nvSpPr>
        <p:spPr>
          <a:xfrm>
            <a:off x="5371938" y="3063964"/>
            <a:ext cx="398075"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5.6%</a:t>
            </a:r>
            <a:endParaRPr lang="en-US" sz="1200" dirty="0"/>
          </a:p>
        </p:txBody>
      </p:sp>
      <p:sp>
        <p:nvSpPr>
          <p:cNvPr id="16" name="Text 14"/>
          <p:cNvSpPr/>
          <p:nvPr/>
        </p:nvSpPr>
        <p:spPr>
          <a:xfrm>
            <a:off x="994345" y="3400447"/>
            <a:ext cx="2485353" cy="25643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3B4658"/>
                </a:solidFill>
                <a:latin typeface="Arial" pitchFamily="34" charset="0"/>
                <a:ea typeface="Arial" pitchFamily="34" charset="-122"/>
                <a:cs typeface="Arial" pitchFamily="34" charset="-120"/>
              </a:rPr>
              <a:t>Intel/AMD processors</a:t>
            </a:r>
            <a:endParaRPr lang="en-US" sz="1300" dirty="0"/>
          </a:p>
        </p:txBody>
      </p:sp>
      <p:sp>
        <p:nvSpPr>
          <p:cNvPr id="17" name="Shape 15"/>
          <p:cNvSpPr/>
          <p:nvPr/>
        </p:nvSpPr>
        <p:spPr>
          <a:xfrm>
            <a:off x="3581292" y="3427090"/>
            <a:ext cx="1536662" cy="177751"/>
          </a:xfrm>
          <a:prstGeom prst="rect">
            <a:avLst/>
          </a:prstGeom>
          <a:solidFill>
            <a:srgbClr val="14284B"/>
          </a:solidFill>
          <a:ln/>
        </p:spPr>
      </p:sp>
      <p:sp>
        <p:nvSpPr>
          <p:cNvPr id="18" name="Text 16"/>
          <p:cNvSpPr/>
          <p:nvPr/>
        </p:nvSpPr>
        <p:spPr>
          <a:xfrm>
            <a:off x="5219548" y="3409277"/>
            <a:ext cx="398075"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5.1%</a:t>
            </a:r>
            <a:endParaRPr lang="en-US" sz="1200" dirty="0"/>
          </a:p>
        </p:txBody>
      </p:sp>
      <p:sp>
        <p:nvSpPr>
          <p:cNvPr id="19" name="Text 17"/>
          <p:cNvSpPr/>
          <p:nvPr/>
        </p:nvSpPr>
        <p:spPr>
          <a:xfrm>
            <a:off x="994345" y="3745760"/>
            <a:ext cx="2485353" cy="25643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3B4658"/>
                </a:solidFill>
                <a:latin typeface="Arial" pitchFamily="34" charset="0"/>
                <a:ea typeface="Arial" pitchFamily="34" charset="-122"/>
                <a:cs typeface="Arial" pitchFamily="34" charset="-120"/>
              </a:rPr>
              <a:t>Search engines</a:t>
            </a:r>
            <a:endParaRPr lang="en-US" sz="1300" dirty="0"/>
          </a:p>
        </p:txBody>
      </p:sp>
      <p:sp>
        <p:nvSpPr>
          <p:cNvPr id="20" name="Shape 18"/>
          <p:cNvSpPr/>
          <p:nvPr/>
        </p:nvSpPr>
        <p:spPr>
          <a:xfrm>
            <a:off x="3581292" y="3772403"/>
            <a:ext cx="1511226" cy="177751"/>
          </a:xfrm>
          <a:prstGeom prst="rect">
            <a:avLst/>
          </a:prstGeom>
          <a:solidFill>
            <a:srgbClr val="14284B"/>
          </a:solidFill>
          <a:ln/>
        </p:spPr>
      </p:sp>
      <p:sp>
        <p:nvSpPr>
          <p:cNvPr id="21" name="Text 19"/>
          <p:cNvSpPr/>
          <p:nvPr/>
        </p:nvSpPr>
        <p:spPr>
          <a:xfrm>
            <a:off x="5194112" y="3754590"/>
            <a:ext cx="398075"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5.0%</a:t>
            </a:r>
            <a:endParaRPr lang="en-US" sz="1200" dirty="0"/>
          </a:p>
        </p:txBody>
      </p:sp>
      <p:sp>
        <p:nvSpPr>
          <p:cNvPr id="22" name="Text 20"/>
          <p:cNvSpPr/>
          <p:nvPr/>
        </p:nvSpPr>
        <p:spPr>
          <a:xfrm>
            <a:off x="994345" y="4091073"/>
            <a:ext cx="2485353" cy="25643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3B4658"/>
                </a:solidFill>
                <a:latin typeface="Arial" pitchFamily="34" charset="0"/>
                <a:ea typeface="Arial" pitchFamily="34" charset="-122"/>
                <a:cs typeface="Arial" pitchFamily="34" charset="-120"/>
              </a:rPr>
              <a:t>Windows Server</a:t>
            </a:r>
            <a:endParaRPr lang="en-US" sz="1300" dirty="0"/>
          </a:p>
        </p:txBody>
      </p:sp>
      <p:sp>
        <p:nvSpPr>
          <p:cNvPr id="23" name="Shape 21"/>
          <p:cNvSpPr/>
          <p:nvPr/>
        </p:nvSpPr>
        <p:spPr>
          <a:xfrm>
            <a:off x="3581292" y="4117716"/>
            <a:ext cx="1390611" cy="177751"/>
          </a:xfrm>
          <a:prstGeom prst="rect">
            <a:avLst/>
          </a:prstGeom>
          <a:solidFill>
            <a:srgbClr val="14284B"/>
          </a:solidFill>
          <a:ln/>
        </p:spPr>
      </p:sp>
      <p:sp>
        <p:nvSpPr>
          <p:cNvPr id="24" name="Text 22"/>
          <p:cNvSpPr/>
          <p:nvPr/>
        </p:nvSpPr>
        <p:spPr>
          <a:xfrm>
            <a:off x="5073497" y="4099903"/>
            <a:ext cx="398075"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4.6%</a:t>
            </a:r>
            <a:endParaRPr lang="en-US" sz="1200" dirty="0"/>
          </a:p>
        </p:txBody>
      </p:sp>
      <p:sp>
        <p:nvSpPr>
          <p:cNvPr id="25" name="Text 23"/>
          <p:cNvSpPr/>
          <p:nvPr/>
        </p:nvSpPr>
        <p:spPr>
          <a:xfrm>
            <a:off x="994345" y="4436386"/>
            <a:ext cx="2485353" cy="25643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3B4658"/>
                </a:solidFill>
                <a:latin typeface="Arial" pitchFamily="34" charset="0"/>
                <a:ea typeface="Arial" pitchFamily="34" charset="-122"/>
                <a:cs typeface="Arial" pitchFamily="34" charset="-120"/>
              </a:rPr>
              <a:t>Oracle takeover</a:t>
            </a:r>
            <a:endParaRPr lang="en-US" sz="1300" dirty="0"/>
          </a:p>
        </p:txBody>
      </p:sp>
      <p:sp>
        <p:nvSpPr>
          <p:cNvPr id="26" name="Shape 24"/>
          <p:cNvSpPr/>
          <p:nvPr/>
        </p:nvSpPr>
        <p:spPr>
          <a:xfrm>
            <a:off x="3581292" y="4463029"/>
            <a:ext cx="1174744" cy="177751"/>
          </a:xfrm>
          <a:prstGeom prst="rect">
            <a:avLst/>
          </a:prstGeom>
          <a:solidFill>
            <a:srgbClr val="14284B"/>
          </a:solidFill>
          <a:ln/>
        </p:spPr>
      </p:sp>
      <p:sp>
        <p:nvSpPr>
          <p:cNvPr id="27" name="Text 25"/>
          <p:cNvSpPr/>
          <p:nvPr/>
        </p:nvSpPr>
        <p:spPr>
          <a:xfrm>
            <a:off x="4857629" y="4445216"/>
            <a:ext cx="398075"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3.9%</a:t>
            </a:r>
            <a:endParaRPr lang="en-US" sz="1200" dirty="0"/>
          </a:p>
        </p:txBody>
      </p:sp>
      <p:sp>
        <p:nvSpPr>
          <p:cNvPr id="28" name="Text 26"/>
          <p:cNvSpPr/>
          <p:nvPr/>
        </p:nvSpPr>
        <p:spPr>
          <a:xfrm>
            <a:off x="994345" y="4781699"/>
            <a:ext cx="2485353" cy="256439"/>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3B4658"/>
                </a:solidFill>
                <a:latin typeface="Arial" pitchFamily="34" charset="0"/>
                <a:ea typeface="Arial" pitchFamily="34" charset="-122"/>
                <a:cs typeface="Arial" pitchFamily="34" charset="-120"/>
              </a:rPr>
              <a:t>Game consoles</a:t>
            </a:r>
            <a:endParaRPr lang="en-US" sz="1300" dirty="0"/>
          </a:p>
        </p:txBody>
      </p:sp>
      <p:sp>
        <p:nvSpPr>
          <p:cNvPr id="29" name="Shape 27"/>
          <p:cNvSpPr/>
          <p:nvPr/>
        </p:nvSpPr>
        <p:spPr>
          <a:xfrm>
            <a:off x="3581292" y="4808342"/>
            <a:ext cx="1054054" cy="177751"/>
          </a:xfrm>
          <a:prstGeom prst="rect">
            <a:avLst/>
          </a:prstGeom>
          <a:solidFill>
            <a:srgbClr val="14284B"/>
          </a:solidFill>
          <a:ln/>
        </p:spPr>
      </p:sp>
      <p:sp>
        <p:nvSpPr>
          <p:cNvPr id="30" name="Text 28"/>
          <p:cNvSpPr/>
          <p:nvPr/>
        </p:nvSpPr>
        <p:spPr>
          <a:xfrm>
            <a:off x="4736940" y="4790529"/>
            <a:ext cx="398075"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3.5%</a:t>
            </a:r>
            <a:endParaRPr lang="en-US" sz="1200" dirty="0"/>
          </a:p>
        </p:txBody>
      </p:sp>
      <p:sp>
        <p:nvSpPr>
          <p:cNvPr id="31" name="Text 29"/>
          <p:cNvSpPr/>
          <p:nvPr/>
        </p:nvSpPr>
        <p:spPr>
          <a:xfrm>
            <a:off x="1066734" y="5127012"/>
            <a:ext cx="643599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A leftover stock-market topic (not tech) is flagged and left out.</a:t>
            </a:r>
            <a:endParaRPr lang="en-US" sz="1200" dirty="0"/>
          </a:p>
        </p:txBody>
      </p:sp>
      <p:sp>
        <p:nvSpPr>
          <p:cNvPr id="32" name="Shape 30"/>
          <p:cNvSpPr/>
          <p:nvPr/>
        </p:nvSpPr>
        <p:spPr>
          <a:xfrm>
            <a:off x="7823246" y="1747322"/>
            <a:ext cx="3555932" cy="3846976"/>
          </a:xfrm>
          <a:prstGeom prst="roundRect">
            <a:avLst>
              <a:gd name="adj" fmla="val 714"/>
            </a:avLst>
          </a:prstGeom>
          <a:solidFill>
            <a:srgbClr val="14284B"/>
          </a:solidFill>
          <a:ln/>
        </p:spPr>
      </p:sp>
      <p:sp>
        <p:nvSpPr>
          <p:cNvPr id="33" name="Shape 31"/>
          <p:cNvSpPr/>
          <p:nvPr/>
        </p:nvSpPr>
        <p:spPr>
          <a:xfrm>
            <a:off x="7823246" y="1747322"/>
            <a:ext cx="3555932" cy="3846976"/>
          </a:xfrm>
          <a:custGeom>
            <a:avLst/>
            <a:gdLst/>
            <a:ahLst/>
            <a:cxnLst/>
            <a:rect l="l" t="t" r="r" b="b"/>
            <a:pathLst>
              <a:path w="3555932" h="3846976">
                <a:moveTo>
                  <a:pt x="0" y="38100"/>
                </a:moveTo>
                <a:lnTo>
                  <a:pt x="0" y="25400"/>
                </a:lnTo>
                <a:arcTo hR="25400" wR="25400" stAng="10800000" swAng="5400000"/>
                <a:lnTo>
                  <a:pt x="3530532" y="0"/>
                </a:lnTo>
                <a:arcTo hR="25400" wR="25400" stAng="16200000" swAng="5400000"/>
                <a:lnTo>
                  <a:pt x="3555932" y="38100"/>
                </a:lnTo>
                <a:lnTo>
                  <a:pt x="0" y="38100"/>
                </a:lnTo>
                <a:close/>
              </a:path>
            </a:pathLst>
          </a:custGeom>
          <a:solidFill>
            <a:srgbClr val="D9731E"/>
          </a:solidFill>
          <a:ln/>
        </p:spPr>
      </p:sp>
      <p:sp>
        <p:nvSpPr>
          <p:cNvPr id="34" name="Text 32"/>
          <p:cNvSpPr/>
          <p:nvPr/>
        </p:nvSpPr>
        <p:spPr>
          <a:xfrm>
            <a:off x="8077230" y="2035121"/>
            <a:ext cx="3139402" cy="25394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AF7"/>
                </a:solidFill>
                <a:latin typeface="Arial" pitchFamily="34" charset="0"/>
                <a:ea typeface="Arial" pitchFamily="34" charset="-122"/>
                <a:cs typeface="Arial" pitchFamily="34" charset="-120"/>
              </a:rPr>
              <a:t>How I found them</a:t>
            </a:r>
            <a:endParaRPr lang="en-US" sz="1500" dirty="0"/>
          </a:p>
        </p:txBody>
      </p:sp>
      <p:sp>
        <p:nvSpPr>
          <p:cNvPr id="35" name="Text 33"/>
          <p:cNvSpPr/>
          <p:nvPr/>
        </p:nvSpPr>
        <p:spPr>
          <a:xfrm>
            <a:off x="8077230" y="2339826"/>
            <a:ext cx="3139402"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31,007 tech news items, grouped by meaning with BERTopic</a:t>
            </a:r>
            <a:endParaRPr lang="en-US" sz="1200" dirty="0"/>
          </a:p>
        </p:txBody>
      </p:sp>
      <p:sp>
        <p:nvSpPr>
          <p:cNvPr id="36" name="Text 34"/>
          <p:cNvSpPr/>
          <p:nvPr/>
        </p:nvSpPr>
        <p:spPr>
          <a:xfrm>
            <a:off x="8077230" y="2842587"/>
            <a:ext cx="3139402"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GPT-4o-mini gives each group a readable name</a:t>
            </a:r>
            <a:endParaRPr lang="en-US" sz="1200" dirty="0"/>
          </a:p>
        </p:txBody>
      </p:sp>
      <p:sp>
        <p:nvSpPr>
          <p:cNvPr id="37" name="Text 35"/>
          <p:cNvSpPr/>
          <p:nvPr/>
        </p:nvSpPr>
        <p:spPr>
          <a:xfrm>
            <a:off x="8077230" y="3446942"/>
            <a:ext cx="3139402" cy="253948"/>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AFAF7"/>
                </a:solidFill>
                <a:latin typeface="Arial" pitchFamily="34" charset="0"/>
                <a:ea typeface="Arial" pitchFamily="34" charset="-122"/>
                <a:cs typeface="Arial" pitchFamily="34" charset="-120"/>
              </a:rPr>
              <a:t>What I checked</a:t>
            </a:r>
            <a:endParaRPr lang="en-US" sz="1500" dirty="0"/>
          </a:p>
        </p:txBody>
      </p:sp>
      <p:sp>
        <p:nvSpPr>
          <p:cNvPr id="38" name="Text 36"/>
          <p:cNvSpPr/>
          <p:nvPr/>
        </p:nvSpPr>
        <p:spPr>
          <a:xfrm>
            <a:off x="8077230" y="3751647"/>
            <a:ext cx="313940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Topics that were not tech</a:t>
            </a:r>
            <a:endParaRPr lang="en-US" sz="1200" dirty="0"/>
          </a:p>
        </p:txBody>
      </p:sp>
      <p:sp>
        <p:nvSpPr>
          <p:cNvPr id="39" name="Text 37"/>
          <p:cNvSpPr/>
          <p:nvPr/>
        </p:nvSpPr>
        <p:spPr>
          <a:xfrm>
            <a:off x="8077230" y="4041106"/>
            <a:ext cx="3139402"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AFAF7"/>
                </a:solidFill>
                <a:latin typeface="Arial" pitchFamily="34" charset="0"/>
                <a:ea typeface="Arial" pitchFamily="34" charset="-122"/>
                <a:cs typeface="Arial" pitchFamily="34" charset="-120"/>
              </a:rPr>
              <a:t>7 of 39 → 2 of 32</a:t>
            </a:r>
            <a:endParaRPr lang="en-US" sz="2200" dirty="0"/>
          </a:p>
        </p:txBody>
      </p:sp>
      <p:sp>
        <p:nvSpPr>
          <p:cNvPr id="40" name="Text 38"/>
          <p:cNvSpPr/>
          <p:nvPr/>
        </p:nvSpPr>
        <p:spPr>
          <a:xfrm>
            <a:off x="8077230" y="4508392"/>
            <a:ext cx="313940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Rows with leftover HTML</a:t>
            </a:r>
            <a:endParaRPr lang="en-US" sz="1200" dirty="0"/>
          </a:p>
        </p:txBody>
      </p:sp>
      <p:sp>
        <p:nvSpPr>
          <p:cNvPr id="41" name="Text 39"/>
          <p:cNvSpPr/>
          <p:nvPr/>
        </p:nvSpPr>
        <p:spPr>
          <a:xfrm>
            <a:off x="8077230" y="4797851"/>
            <a:ext cx="3139402"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AFAF7"/>
                </a:solidFill>
                <a:latin typeface="Arial" pitchFamily="34" charset="0"/>
                <a:ea typeface="Arial" pitchFamily="34" charset="-122"/>
                <a:cs typeface="Arial" pitchFamily="34" charset="-120"/>
              </a:rPr>
              <a:t>6% → 0%</a:t>
            </a:r>
            <a:endParaRPr lang="en-US" sz="2200" dirty="0"/>
          </a:p>
        </p:txBody>
      </p:sp>
      <p:sp>
        <p:nvSpPr>
          <p:cNvPr id="42" name="Text 40"/>
          <p:cNvSpPr/>
          <p:nvPr/>
        </p:nvSpPr>
        <p:spPr>
          <a:xfrm>
            <a:off x="812750" y="6238277"/>
            <a:ext cx="308809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Content gap analysis and research assistant</a:t>
            </a:r>
            <a:endParaRPr lang="en-US" sz="1200" dirty="0"/>
          </a:p>
        </p:txBody>
      </p:sp>
      <p:sp>
        <p:nvSpPr>
          <p:cNvPr id="43" name="Text 41"/>
          <p:cNvSpPr/>
          <p:nvPr/>
        </p:nvSpPr>
        <p:spPr>
          <a:xfrm>
            <a:off x="11082624" y="6238277"/>
            <a:ext cx="34727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2 / 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2191927" cy="63477"/>
          </a:xfrm>
          <a:prstGeom prst="rect">
            <a:avLst/>
          </a:prstGeom>
          <a:solidFill>
            <a:srgbClr val="14284B"/>
          </a:solidFill>
          <a:ln/>
        </p:spPr>
      </p:sp>
      <p:sp>
        <p:nvSpPr>
          <p:cNvPr id="3" name="Text 1"/>
          <p:cNvSpPr/>
          <p:nvPr/>
        </p:nvSpPr>
        <p:spPr>
          <a:xfrm>
            <a:off x="812750" y="812750"/>
            <a:ext cx="10883421" cy="227229"/>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2B5C8F"/>
                </a:solidFill>
                <a:latin typeface="Arial" pitchFamily="34" charset="0"/>
                <a:ea typeface="Arial" pitchFamily="34" charset="-122"/>
                <a:cs typeface="Arial" pitchFamily="34" charset="-120"/>
              </a:rPr>
              <a:t>PARTS 2–3 · COVERAGE AND GAPS</a:t>
            </a:r>
            <a:endParaRPr lang="en-US" sz="1159" dirty="0"/>
          </a:p>
        </p:txBody>
      </p:sp>
      <p:sp>
        <p:nvSpPr>
          <p:cNvPr id="4" name="Text 2"/>
          <p:cNvSpPr/>
          <p:nvPr/>
        </p:nvSpPr>
        <p:spPr>
          <a:xfrm>
            <a:off x="812750" y="1090737"/>
            <a:ext cx="10883421" cy="395470"/>
          </a:xfrm>
          <a:prstGeom prst="rect">
            <a:avLst/>
          </a:prstGeom>
          <a:noFill/>
          <a:ln/>
        </p:spPr>
        <p:txBody>
          <a:bodyPr wrap="square" lIns="0" tIns="0" rIns="0" bIns="0" rtlCol="0" anchor="t">
            <a:normAutofit/>
          </a:bodyPr>
          <a:lstStyle/>
          <a:p>
            <a:pPr algn="l" indent="0" marL="0">
              <a:lnSpc>
                <a:spcPts val="2916"/>
              </a:lnSpc>
              <a:buNone/>
            </a:pPr>
            <a:r>
              <a:rPr lang="en-US" sz="2651" b="1" dirty="0">
                <a:solidFill>
                  <a:srgbClr val="14284B"/>
                </a:solidFill>
                <a:latin typeface="Arial" pitchFamily="34" charset="0"/>
                <a:ea typeface="Arial" pitchFamily="34" charset="-122"/>
                <a:cs typeface="Arial" pitchFamily="34" charset="-120"/>
              </a:rPr>
              <a:t>Biggest gaps: enterprise software and hardware</a:t>
            </a:r>
            <a:endParaRPr lang="en-US" sz="2651" dirty="0"/>
          </a:p>
        </p:txBody>
      </p:sp>
      <p:sp>
        <p:nvSpPr>
          <p:cNvPr id="5" name="Text 3"/>
          <p:cNvSpPr/>
          <p:nvPr/>
        </p:nvSpPr>
        <p:spPr>
          <a:xfrm>
            <a:off x="812750" y="1613198"/>
            <a:ext cx="10883421" cy="229795"/>
          </a:xfrm>
          <a:prstGeom prst="rect">
            <a:avLst/>
          </a:prstGeom>
          <a:noFill/>
          <a:ln/>
        </p:spPr>
        <p:txBody>
          <a:bodyPr wrap="square" lIns="0" tIns="0" rIns="0" bIns="0" rtlCol="0" anchor="t">
            <a:normAutofit/>
          </a:bodyPr>
          <a:lstStyle/>
          <a:p>
            <a:pPr algn="l" indent="0" marL="0">
              <a:lnSpc>
                <a:spcPts val="1621"/>
              </a:lnSpc>
              <a:buNone/>
            </a:pPr>
            <a:r>
              <a:rPr lang="en-US" sz="1247" dirty="0">
                <a:solidFill>
                  <a:srgbClr val="3B4658"/>
                </a:solidFill>
                <a:latin typeface="Arial" pitchFamily="34" charset="0"/>
                <a:ea typeface="Arial" pitchFamily="34" charset="-122"/>
                <a:cs typeface="Arial" pitchFamily="34" charset="-120"/>
              </a:rPr>
              <a:t>Same 32 topics on both sides · shares, not raw counts · match threshold 0.45, chosen after testing 3 values</a:t>
            </a:r>
            <a:endParaRPr lang="en-US" sz="1247" dirty="0"/>
          </a:p>
        </p:txBody>
      </p:sp>
      <p:sp>
        <p:nvSpPr>
          <p:cNvPr id="6" name="Shape 4"/>
          <p:cNvSpPr/>
          <p:nvPr/>
        </p:nvSpPr>
        <p:spPr>
          <a:xfrm>
            <a:off x="812750" y="2027120"/>
            <a:ext cx="177751" cy="88838"/>
          </a:xfrm>
          <a:prstGeom prst="rect">
            <a:avLst/>
          </a:prstGeom>
          <a:solidFill>
            <a:srgbClr val="14284B"/>
          </a:solidFill>
          <a:ln/>
        </p:spPr>
      </p:sp>
      <p:sp>
        <p:nvSpPr>
          <p:cNvPr id="7" name="Text 5"/>
          <p:cNvSpPr/>
          <p:nvPr/>
        </p:nvSpPr>
        <p:spPr>
          <a:xfrm>
            <a:off x="1066659" y="1964925"/>
            <a:ext cx="162572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58"/>
                </a:solidFill>
                <a:latin typeface="Arial" pitchFamily="34" charset="0"/>
                <a:ea typeface="Arial" pitchFamily="34" charset="-122"/>
                <a:cs typeface="Arial" pitchFamily="34" charset="-120"/>
              </a:rPr>
              <a:t>Market (external share)</a:t>
            </a:r>
            <a:endParaRPr lang="en-US" sz="1200" dirty="0"/>
          </a:p>
        </p:txBody>
      </p:sp>
      <p:sp>
        <p:nvSpPr>
          <p:cNvPr id="8" name="Shape 6"/>
          <p:cNvSpPr/>
          <p:nvPr/>
        </p:nvSpPr>
        <p:spPr>
          <a:xfrm>
            <a:off x="2895572" y="2027120"/>
            <a:ext cx="177751" cy="88838"/>
          </a:xfrm>
          <a:prstGeom prst="rect">
            <a:avLst/>
          </a:prstGeom>
          <a:solidFill>
            <a:srgbClr val="D9731E"/>
          </a:solidFill>
          <a:ln/>
        </p:spPr>
      </p:sp>
      <p:sp>
        <p:nvSpPr>
          <p:cNvPr id="9" name="Text 7"/>
          <p:cNvSpPr/>
          <p:nvPr/>
        </p:nvSpPr>
        <p:spPr>
          <a:xfrm>
            <a:off x="3149481" y="1964925"/>
            <a:ext cx="1831460"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58"/>
                </a:solidFill>
                <a:latin typeface="Arial" pitchFamily="34" charset="0"/>
                <a:ea typeface="Arial" pitchFamily="34" charset="-122"/>
                <a:cs typeface="Arial" pitchFamily="34" charset="-120"/>
              </a:rPr>
              <a:t>Our library (internal share)</a:t>
            </a:r>
            <a:endParaRPr lang="en-US" sz="1200" dirty="0"/>
          </a:p>
        </p:txBody>
      </p:sp>
      <p:sp>
        <p:nvSpPr>
          <p:cNvPr id="10" name="Shape 8"/>
          <p:cNvSpPr/>
          <p:nvPr/>
        </p:nvSpPr>
        <p:spPr>
          <a:xfrm>
            <a:off x="812750" y="2325486"/>
            <a:ext cx="3386634" cy="3161029"/>
          </a:xfrm>
          <a:prstGeom prst="roundRect">
            <a:avLst>
              <a:gd name="adj" fmla="val 804"/>
            </a:avLst>
          </a:prstGeom>
          <a:solidFill>
            <a:srgbClr val="F0F3F7"/>
          </a:solidFill>
          <a:ln/>
        </p:spPr>
      </p:sp>
      <p:sp>
        <p:nvSpPr>
          <p:cNvPr id="11" name="Shape 9"/>
          <p:cNvSpPr/>
          <p:nvPr/>
        </p:nvSpPr>
        <p:spPr>
          <a:xfrm>
            <a:off x="812750" y="2325486"/>
            <a:ext cx="3386634" cy="3161029"/>
          </a:xfrm>
          <a:custGeom>
            <a:avLst/>
            <a:gdLst/>
            <a:ahLst/>
            <a:cxnLst/>
            <a:rect l="l" t="t" r="r" b="b"/>
            <a:pathLst>
              <a:path w="3386634" h="3161029">
                <a:moveTo>
                  <a:pt x="0" y="38100"/>
                </a:moveTo>
                <a:lnTo>
                  <a:pt x="0" y="25400"/>
                </a:lnTo>
                <a:arcTo hR="25400" wR="25400" stAng="10800000" swAng="5400000"/>
                <a:lnTo>
                  <a:pt x="3361234" y="0"/>
                </a:lnTo>
                <a:arcTo hR="25400" wR="25400" stAng="16200000" swAng="5400000"/>
                <a:lnTo>
                  <a:pt x="3386634" y="38100"/>
                </a:lnTo>
                <a:lnTo>
                  <a:pt x="0" y="38100"/>
                </a:lnTo>
                <a:close/>
              </a:path>
            </a:pathLst>
          </a:custGeom>
          <a:solidFill>
            <a:srgbClr val="D9731E"/>
          </a:solidFill>
          <a:ln/>
        </p:spPr>
      </p:sp>
      <p:sp>
        <p:nvSpPr>
          <p:cNvPr id="12" name="Text 10"/>
          <p:cNvSpPr/>
          <p:nvPr/>
        </p:nvSpPr>
        <p:spPr>
          <a:xfrm>
            <a:off x="990501" y="2537051"/>
            <a:ext cx="3122065" cy="224814"/>
          </a:xfrm>
          <a:prstGeom prst="rect">
            <a:avLst/>
          </a:prstGeom>
          <a:noFill/>
          <a:ln/>
        </p:spPr>
        <p:txBody>
          <a:bodyPr wrap="square" lIns="0" tIns="0" rIns="0" bIns="0" rtlCol="0" anchor="t">
            <a:normAutofit/>
          </a:bodyPr>
          <a:lstStyle/>
          <a:p>
            <a:pPr algn="l" indent="0" marL="0">
              <a:lnSpc>
                <a:spcPts val="1575"/>
              </a:lnSpc>
              <a:buNone/>
            </a:pPr>
            <a:r>
              <a:rPr lang="en-US" sz="1313" b="1" dirty="0">
                <a:solidFill>
                  <a:srgbClr val="A85411"/>
                </a:solidFill>
                <a:latin typeface="Arial" pitchFamily="34" charset="0"/>
                <a:ea typeface="Arial" pitchFamily="34" charset="-122"/>
                <a:cs typeface="Arial" pitchFamily="34" charset="-120"/>
              </a:rPr>
              <a:t>Under-covered: write more</a:t>
            </a:r>
            <a:endParaRPr lang="en-US" sz="1313" dirty="0"/>
          </a:p>
        </p:txBody>
      </p:sp>
      <p:sp>
        <p:nvSpPr>
          <p:cNvPr id="13" name="Text 11"/>
          <p:cNvSpPr/>
          <p:nvPr/>
        </p:nvSpPr>
        <p:spPr>
          <a:xfrm>
            <a:off x="990501" y="2838058"/>
            <a:ext cx="1117685" cy="20986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Intel/AMD chips</a:t>
            </a:r>
            <a:endParaRPr lang="en-US" sz="1200" dirty="0"/>
          </a:p>
        </p:txBody>
      </p:sp>
      <p:sp>
        <p:nvSpPr>
          <p:cNvPr id="14" name="Text 12"/>
          <p:cNvSpPr/>
          <p:nvPr/>
        </p:nvSpPr>
        <p:spPr>
          <a:xfrm>
            <a:off x="3200052" y="2838058"/>
            <a:ext cx="872381" cy="20986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5.1% / 0.6%</a:t>
            </a:r>
            <a:endParaRPr lang="en-US" sz="1200" dirty="0"/>
          </a:p>
        </p:txBody>
      </p:sp>
      <p:sp>
        <p:nvSpPr>
          <p:cNvPr id="15" name="Shape 13"/>
          <p:cNvSpPr/>
          <p:nvPr/>
        </p:nvSpPr>
        <p:spPr>
          <a:xfrm>
            <a:off x="990501" y="3060568"/>
            <a:ext cx="647679" cy="76158"/>
          </a:xfrm>
          <a:prstGeom prst="rect">
            <a:avLst/>
          </a:prstGeom>
          <a:solidFill>
            <a:srgbClr val="14284B"/>
          </a:solidFill>
          <a:ln/>
        </p:spPr>
      </p:sp>
      <p:sp>
        <p:nvSpPr>
          <p:cNvPr id="16" name="Shape 14"/>
          <p:cNvSpPr/>
          <p:nvPr/>
        </p:nvSpPr>
        <p:spPr>
          <a:xfrm>
            <a:off x="990501" y="3174767"/>
            <a:ext cx="76158" cy="76158"/>
          </a:xfrm>
          <a:prstGeom prst="rect">
            <a:avLst/>
          </a:prstGeom>
          <a:solidFill>
            <a:srgbClr val="D9731E"/>
          </a:solidFill>
          <a:ln/>
        </p:spPr>
      </p:sp>
      <p:sp>
        <p:nvSpPr>
          <p:cNvPr id="17" name="Text 15"/>
          <p:cNvSpPr/>
          <p:nvPr/>
        </p:nvSpPr>
        <p:spPr>
          <a:xfrm>
            <a:off x="990501" y="3352518"/>
            <a:ext cx="1159953" cy="20986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Windows Server</a:t>
            </a:r>
            <a:endParaRPr lang="en-US" sz="1200" dirty="0"/>
          </a:p>
        </p:txBody>
      </p:sp>
      <p:sp>
        <p:nvSpPr>
          <p:cNvPr id="18" name="Text 16"/>
          <p:cNvSpPr/>
          <p:nvPr/>
        </p:nvSpPr>
        <p:spPr>
          <a:xfrm>
            <a:off x="3200052" y="3352518"/>
            <a:ext cx="872381" cy="20986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4.6% / 1.4%</a:t>
            </a:r>
            <a:endParaRPr lang="en-US" sz="1200" dirty="0"/>
          </a:p>
        </p:txBody>
      </p:sp>
      <p:sp>
        <p:nvSpPr>
          <p:cNvPr id="19" name="Shape 17"/>
          <p:cNvSpPr/>
          <p:nvPr/>
        </p:nvSpPr>
        <p:spPr>
          <a:xfrm>
            <a:off x="990501" y="3575028"/>
            <a:ext cx="584126" cy="76158"/>
          </a:xfrm>
          <a:prstGeom prst="rect">
            <a:avLst/>
          </a:prstGeom>
          <a:solidFill>
            <a:srgbClr val="14284B"/>
          </a:solidFill>
          <a:ln/>
        </p:spPr>
      </p:sp>
      <p:sp>
        <p:nvSpPr>
          <p:cNvPr id="20" name="Shape 18"/>
          <p:cNvSpPr/>
          <p:nvPr/>
        </p:nvSpPr>
        <p:spPr>
          <a:xfrm>
            <a:off x="990501" y="3689226"/>
            <a:ext cx="177751" cy="76158"/>
          </a:xfrm>
          <a:prstGeom prst="rect">
            <a:avLst/>
          </a:prstGeom>
          <a:solidFill>
            <a:srgbClr val="D9731E"/>
          </a:solidFill>
          <a:ln/>
        </p:spPr>
      </p:sp>
      <p:sp>
        <p:nvSpPr>
          <p:cNvPr id="21" name="Text 19"/>
          <p:cNvSpPr/>
          <p:nvPr/>
        </p:nvSpPr>
        <p:spPr>
          <a:xfrm>
            <a:off x="990501" y="3866978"/>
            <a:ext cx="1126290" cy="20986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Oracle takeover</a:t>
            </a:r>
            <a:endParaRPr lang="en-US" sz="1200" dirty="0"/>
          </a:p>
        </p:txBody>
      </p:sp>
      <p:sp>
        <p:nvSpPr>
          <p:cNvPr id="22" name="Text 20"/>
          <p:cNvSpPr/>
          <p:nvPr/>
        </p:nvSpPr>
        <p:spPr>
          <a:xfrm>
            <a:off x="3200052" y="3866978"/>
            <a:ext cx="872381" cy="20986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3.9% / 0.0%</a:t>
            </a:r>
            <a:endParaRPr lang="en-US" sz="1200" dirty="0"/>
          </a:p>
        </p:txBody>
      </p:sp>
      <p:sp>
        <p:nvSpPr>
          <p:cNvPr id="23" name="Shape 21"/>
          <p:cNvSpPr/>
          <p:nvPr/>
        </p:nvSpPr>
        <p:spPr>
          <a:xfrm>
            <a:off x="990501" y="4089488"/>
            <a:ext cx="495288" cy="76158"/>
          </a:xfrm>
          <a:prstGeom prst="rect">
            <a:avLst/>
          </a:prstGeom>
          <a:solidFill>
            <a:srgbClr val="14284B"/>
          </a:solidFill>
          <a:ln/>
        </p:spPr>
      </p:sp>
      <p:sp>
        <p:nvSpPr>
          <p:cNvPr id="24" name="Shape 22"/>
          <p:cNvSpPr/>
          <p:nvPr/>
        </p:nvSpPr>
        <p:spPr>
          <a:xfrm>
            <a:off x="990501" y="4203686"/>
            <a:ext cx="19021" cy="76158"/>
          </a:xfrm>
          <a:prstGeom prst="rect">
            <a:avLst/>
          </a:prstGeom>
          <a:solidFill>
            <a:srgbClr val="D9731E"/>
          </a:solidFill>
          <a:ln/>
        </p:spPr>
      </p:sp>
      <p:sp>
        <p:nvSpPr>
          <p:cNvPr id="25" name="Text 23"/>
          <p:cNvSpPr/>
          <p:nvPr/>
        </p:nvSpPr>
        <p:spPr>
          <a:xfrm>
            <a:off x="990501" y="4381438"/>
            <a:ext cx="1117685" cy="20986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Oracle software</a:t>
            </a:r>
            <a:endParaRPr lang="en-US" sz="1200" dirty="0"/>
          </a:p>
        </p:txBody>
      </p:sp>
      <p:sp>
        <p:nvSpPr>
          <p:cNvPr id="26" name="Text 24"/>
          <p:cNvSpPr/>
          <p:nvPr/>
        </p:nvSpPr>
        <p:spPr>
          <a:xfrm>
            <a:off x="3200052" y="4381438"/>
            <a:ext cx="872381" cy="20986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3.5% / 0.2%</a:t>
            </a:r>
            <a:endParaRPr lang="en-US" sz="1200" dirty="0"/>
          </a:p>
        </p:txBody>
      </p:sp>
      <p:sp>
        <p:nvSpPr>
          <p:cNvPr id="27" name="Shape 25"/>
          <p:cNvSpPr/>
          <p:nvPr/>
        </p:nvSpPr>
        <p:spPr>
          <a:xfrm>
            <a:off x="990501" y="4603947"/>
            <a:ext cx="444491" cy="76158"/>
          </a:xfrm>
          <a:prstGeom prst="rect">
            <a:avLst/>
          </a:prstGeom>
          <a:solidFill>
            <a:srgbClr val="14284B"/>
          </a:solidFill>
          <a:ln/>
        </p:spPr>
      </p:sp>
      <p:sp>
        <p:nvSpPr>
          <p:cNvPr id="28" name="Shape 26"/>
          <p:cNvSpPr/>
          <p:nvPr/>
        </p:nvSpPr>
        <p:spPr>
          <a:xfrm>
            <a:off x="990501" y="4718146"/>
            <a:ext cx="19021" cy="76158"/>
          </a:xfrm>
          <a:prstGeom prst="rect">
            <a:avLst/>
          </a:prstGeom>
          <a:solidFill>
            <a:srgbClr val="D9731E"/>
          </a:solidFill>
          <a:ln/>
        </p:spPr>
      </p:sp>
      <p:sp>
        <p:nvSpPr>
          <p:cNvPr id="29" name="Text 27"/>
          <p:cNvSpPr/>
          <p:nvPr/>
        </p:nvSpPr>
        <p:spPr>
          <a:xfrm>
            <a:off x="990501" y="4895898"/>
            <a:ext cx="1479000" cy="20986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Windows XP security</a:t>
            </a:r>
            <a:endParaRPr lang="en-US" sz="1200" dirty="0"/>
          </a:p>
        </p:txBody>
      </p:sp>
      <p:sp>
        <p:nvSpPr>
          <p:cNvPr id="30" name="Text 28"/>
          <p:cNvSpPr/>
          <p:nvPr/>
        </p:nvSpPr>
        <p:spPr>
          <a:xfrm>
            <a:off x="3200052" y="4895898"/>
            <a:ext cx="872381" cy="20986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3.0% / 0.1%</a:t>
            </a:r>
            <a:endParaRPr lang="en-US" sz="1200" dirty="0"/>
          </a:p>
        </p:txBody>
      </p:sp>
      <p:sp>
        <p:nvSpPr>
          <p:cNvPr id="31" name="Shape 29"/>
          <p:cNvSpPr/>
          <p:nvPr/>
        </p:nvSpPr>
        <p:spPr>
          <a:xfrm>
            <a:off x="990501" y="5118407"/>
            <a:ext cx="380939" cy="76158"/>
          </a:xfrm>
          <a:prstGeom prst="rect">
            <a:avLst/>
          </a:prstGeom>
          <a:solidFill>
            <a:srgbClr val="14284B"/>
          </a:solidFill>
          <a:ln/>
        </p:spPr>
      </p:sp>
      <p:sp>
        <p:nvSpPr>
          <p:cNvPr id="32" name="Shape 30"/>
          <p:cNvSpPr/>
          <p:nvPr/>
        </p:nvSpPr>
        <p:spPr>
          <a:xfrm>
            <a:off x="990501" y="5232606"/>
            <a:ext cx="19021" cy="76158"/>
          </a:xfrm>
          <a:prstGeom prst="rect">
            <a:avLst/>
          </a:prstGeom>
          <a:solidFill>
            <a:srgbClr val="D9731E"/>
          </a:solidFill>
          <a:ln/>
        </p:spPr>
      </p:sp>
      <p:sp>
        <p:nvSpPr>
          <p:cNvPr id="33" name="Shape 31"/>
          <p:cNvSpPr/>
          <p:nvPr/>
        </p:nvSpPr>
        <p:spPr>
          <a:xfrm>
            <a:off x="4402571" y="2325486"/>
            <a:ext cx="3386710" cy="3161029"/>
          </a:xfrm>
          <a:prstGeom prst="roundRect">
            <a:avLst>
              <a:gd name="adj" fmla="val 804"/>
            </a:avLst>
          </a:prstGeom>
          <a:solidFill>
            <a:srgbClr val="F0F3F7"/>
          </a:solidFill>
          <a:ln/>
        </p:spPr>
      </p:sp>
      <p:sp>
        <p:nvSpPr>
          <p:cNvPr id="34" name="Shape 32"/>
          <p:cNvSpPr/>
          <p:nvPr/>
        </p:nvSpPr>
        <p:spPr>
          <a:xfrm>
            <a:off x="4402571" y="2325486"/>
            <a:ext cx="3386710" cy="3161029"/>
          </a:xfrm>
          <a:custGeom>
            <a:avLst/>
            <a:gdLst/>
            <a:ahLst/>
            <a:cxnLst/>
            <a:rect l="l" t="t" r="r" b="b"/>
            <a:pathLst>
              <a:path w="3386710" h="3161029">
                <a:moveTo>
                  <a:pt x="0" y="38100"/>
                </a:moveTo>
                <a:lnTo>
                  <a:pt x="0" y="25400"/>
                </a:lnTo>
                <a:arcTo hR="25400" wR="25400" stAng="10800000" swAng="5400000"/>
                <a:lnTo>
                  <a:pt x="3361310" y="0"/>
                </a:lnTo>
                <a:arcTo hR="25400" wR="25400" stAng="16200000" swAng="5400000"/>
                <a:lnTo>
                  <a:pt x="3386710" y="38100"/>
                </a:lnTo>
                <a:lnTo>
                  <a:pt x="0" y="38100"/>
                </a:lnTo>
                <a:close/>
              </a:path>
            </a:pathLst>
          </a:custGeom>
          <a:solidFill>
            <a:srgbClr val="14284B"/>
          </a:solidFill>
          <a:ln/>
        </p:spPr>
      </p:sp>
      <p:sp>
        <p:nvSpPr>
          <p:cNvPr id="35" name="Text 33"/>
          <p:cNvSpPr/>
          <p:nvPr/>
        </p:nvSpPr>
        <p:spPr>
          <a:xfrm>
            <a:off x="4580322" y="2537051"/>
            <a:ext cx="3122143" cy="23877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84B"/>
                </a:solidFill>
                <a:latin typeface="Arial" pitchFamily="34" charset="0"/>
                <a:ea typeface="Arial" pitchFamily="34" charset="-122"/>
                <a:cs typeface="Arial" pitchFamily="34" charset="-120"/>
              </a:rPr>
              <a:t>About right</a:t>
            </a:r>
            <a:endParaRPr lang="en-US" sz="1400" dirty="0"/>
          </a:p>
        </p:txBody>
      </p:sp>
      <p:sp>
        <p:nvSpPr>
          <p:cNvPr id="36" name="Text 34"/>
          <p:cNvSpPr/>
          <p:nvPr/>
        </p:nvSpPr>
        <p:spPr>
          <a:xfrm>
            <a:off x="4580322" y="2852021"/>
            <a:ext cx="1236186"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Mobile &amp; wireless</a:t>
            </a:r>
            <a:endParaRPr lang="en-US" sz="1200" dirty="0"/>
          </a:p>
        </p:txBody>
      </p:sp>
      <p:sp>
        <p:nvSpPr>
          <p:cNvPr id="37" name="Text 35"/>
          <p:cNvSpPr/>
          <p:nvPr/>
        </p:nvSpPr>
        <p:spPr>
          <a:xfrm>
            <a:off x="6620500" y="2852021"/>
            <a:ext cx="1041830"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10.1% / 12.0%</a:t>
            </a:r>
            <a:endParaRPr lang="en-US" sz="1200" dirty="0"/>
          </a:p>
        </p:txBody>
      </p:sp>
      <p:sp>
        <p:nvSpPr>
          <p:cNvPr id="38" name="Shape 36"/>
          <p:cNvSpPr/>
          <p:nvPr/>
        </p:nvSpPr>
        <p:spPr>
          <a:xfrm>
            <a:off x="4580322" y="3103364"/>
            <a:ext cx="1282678" cy="76158"/>
          </a:xfrm>
          <a:prstGeom prst="rect">
            <a:avLst/>
          </a:prstGeom>
          <a:solidFill>
            <a:srgbClr val="14284B"/>
          </a:solidFill>
          <a:ln/>
        </p:spPr>
      </p:sp>
      <p:sp>
        <p:nvSpPr>
          <p:cNvPr id="39" name="Shape 37"/>
          <p:cNvSpPr/>
          <p:nvPr/>
        </p:nvSpPr>
        <p:spPr>
          <a:xfrm>
            <a:off x="4580322" y="3217563"/>
            <a:ext cx="1523981" cy="76158"/>
          </a:xfrm>
          <a:prstGeom prst="rect">
            <a:avLst/>
          </a:prstGeom>
          <a:solidFill>
            <a:srgbClr val="D9731E"/>
          </a:solidFill>
          <a:ln/>
        </p:spPr>
      </p:sp>
      <p:sp>
        <p:nvSpPr>
          <p:cNvPr id="40" name="Text 38"/>
          <p:cNvSpPr/>
          <p:nvPr/>
        </p:nvSpPr>
        <p:spPr>
          <a:xfrm>
            <a:off x="4580322" y="3395314"/>
            <a:ext cx="93449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Apple iTunes</a:t>
            </a:r>
            <a:endParaRPr lang="en-US" sz="1200" dirty="0"/>
          </a:p>
        </p:txBody>
      </p:sp>
      <p:sp>
        <p:nvSpPr>
          <p:cNvPr id="41" name="Text 39"/>
          <p:cNvSpPr/>
          <p:nvPr/>
        </p:nvSpPr>
        <p:spPr>
          <a:xfrm>
            <a:off x="6789948" y="3395314"/>
            <a:ext cx="872381"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5.6% / 6.0%</a:t>
            </a:r>
            <a:endParaRPr lang="en-US" sz="1200" dirty="0"/>
          </a:p>
        </p:txBody>
      </p:sp>
      <p:sp>
        <p:nvSpPr>
          <p:cNvPr id="42" name="Shape 40"/>
          <p:cNvSpPr/>
          <p:nvPr/>
        </p:nvSpPr>
        <p:spPr>
          <a:xfrm>
            <a:off x="4580322" y="3646656"/>
            <a:ext cx="711156" cy="76158"/>
          </a:xfrm>
          <a:prstGeom prst="rect">
            <a:avLst/>
          </a:prstGeom>
          <a:solidFill>
            <a:srgbClr val="14284B"/>
          </a:solidFill>
          <a:ln/>
        </p:spPr>
      </p:sp>
      <p:sp>
        <p:nvSpPr>
          <p:cNvPr id="43" name="Shape 41"/>
          <p:cNvSpPr/>
          <p:nvPr/>
        </p:nvSpPr>
        <p:spPr>
          <a:xfrm>
            <a:off x="4580322" y="3760856"/>
            <a:ext cx="761953" cy="76158"/>
          </a:xfrm>
          <a:prstGeom prst="rect">
            <a:avLst/>
          </a:prstGeom>
          <a:solidFill>
            <a:srgbClr val="D9731E"/>
          </a:solidFill>
          <a:ln/>
        </p:spPr>
      </p:sp>
      <p:sp>
        <p:nvSpPr>
          <p:cNvPr id="44" name="Text 42"/>
          <p:cNvSpPr/>
          <p:nvPr/>
        </p:nvSpPr>
        <p:spPr>
          <a:xfrm>
            <a:off x="4580322" y="3938606"/>
            <a:ext cx="110960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Search engines</a:t>
            </a:r>
            <a:endParaRPr lang="en-US" sz="1200" dirty="0"/>
          </a:p>
        </p:txBody>
      </p:sp>
      <p:sp>
        <p:nvSpPr>
          <p:cNvPr id="45" name="Text 43"/>
          <p:cNvSpPr/>
          <p:nvPr/>
        </p:nvSpPr>
        <p:spPr>
          <a:xfrm>
            <a:off x="6789948" y="3938606"/>
            <a:ext cx="872381"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5.0% / 5.5%</a:t>
            </a:r>
            <a:endParaRPr lang="en-US" sz="1200" dirty="0"/>
          </a:p>
        </p:txBody>
      </p:sp>
      <p:sp>
        <p:nvSpPr>
          <p:cNvPr id="46" name="Shape 44"/>
          <p:cNvSpPr/>
          <p:nvPr/>
        </p:nvSpPr>
        <p:spPr>
          <a:xfrm>
            <a:off x="4580322" y="4189949"/>
            <a:ext cx="634999" cy="76158"/>
          </a:xfrm>
          <a:prstGeom prst="rect">
            <a:avLst/>
          </a:prstGeom>
          <a:solidFill>
            <a:srgbClr val="14284B"/>
          </a:solidFill>
          <a:ln/>
        </p:spPr>
      </p:sp>
      <p:sp>
        <p:nvSpPr>
          <p:cNvPr id="47" name="Shape 45"/>
          <p:cNvSpPr/>
          <p:nvPr/>
        </p:nvSpPr>
        <p:spPr>
          <a:xfrm>
            <a:off x="4580322" y="4304148"/>
            <a:ext cx="698476" cy="76158"/>
          </a:xfrm>
          <a:prstGeom prst="rect">
            <a:avLst/>
          </a:prstGeom>
          <a:solidFill>
            <a:srgbClr val="D9731E"/>
          </a:solidFill>
          <a:ln/>
        </p:spPr>
      </p:sp>
      <p:sp>
        <p:nvSpPr>
          <p:cNvPr id="48" name="Shape 46"/>
          <p:cNvSpPr/>
          <p:nvPr/>
        </p:nvSpPr>
        <p:spPr>
          <a:xfrm>
            <a:off x="7992468" y="2325486"/>
            <a:ext cx="3386710" cy="3161029"/>
          </a:xfrm>
          <a:prstGeom prst="roundRect">
            <a:avLst>
              <a:gd name="adj" fmla="val 804"/>
            </a:avLst>
          </a:prstGeom>
          <a:solidFill>
            <a:srgbClr val="F0F3F7"/>
          </a:solidFill>
          <a:ln/>
        </p:spPr>
      </p:sp>
      <p:sp>
        <p:nvSpPr>
          <p:cNvPr id="49" name="Shape 47"/>
          <p:cNvSpPr/>
          <p:nvPr/>
        </p:nvSpPr>
        <p:spPr>
          <a:xfrm>
            <a:off x="7992468" y="2325486"/>
            <a:ext cx="3386710" cy="3161029"/>
          </a:xfrm>
          <a:custGeom>
            <a:avLst/>
            <a:gdLst/>
            <a:ahLst/>
            <a:cxnLst/>
            <a:rect l="l" t="t" r="r" b="b"/>
            <a:pathLst>
              <a:path w="3386710" h="3161029">
                <a:moveTo>
                  <a:pt x="0" y="38100"/>
                </a:moveTo>
                <a:lnTo>
                  <a:pt x="0" y="25400"/>
                </a:lnTo>
                <a:arcTo hR="25400" wR="25400" stAng="10800000" swAng="5400000"/>
                <a:lnTo>
                  <a:pt x="3361310" y="0"/>
                </a:lnTo>
                <a:arcTo hR="25400" wR="25400" stAng="16200000" swAng="5400000"/>
                <a:lnTo>
                  <a:pt x="3386710" y="38100"/>
                </a:lnTo>
                <a:lnTo>
                  <a:pt x="0" y="38100"/>
                </a:lnTo>
                <a:close/>
              </a:path>
            </a:pathLst>
          </a:custGeom>
          <a:solidFill>
            <a:srgbClr val="14284B"/>
          </a:solidFill>
          <a:ln/>
        </p:spPr>
      </p:sp>
      <p:sp>
        <p:nvSpPr>
          <p:cNvPr id="50" name="Text 48"/>
          <p:cNvSpPr/>
          <p:nvPr/>
        </p:nvSpPr>
        <p:spPr>
          <a:xfrm>
            <a:off x="8170219" y="2537051"/>
            <a:ext cx="3122143" cy="238777"/>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84B"/>
                </a:solidFill>
                <a:latin typeface="Arial" pitchFamily="34" charset="0"/>
                <a:ea typeface="Arial" pitchFamily="34" charset="-122"/>
                <a:cs typeface="Arial" pitchFamily="34" charset="-120"/>
              </a:rPr>
              <a:t>Over-covered: write less</a:t>
            </a:r>
            <a:endParaRPr lang="en-US" sz="1400" dirty="0"/>
          </a:p>
        </p:txBody>
      </p:sp>
      <p:sp>
        <p:nvSpPr>
          <p:cNvPr id="51" name="Text 49"/>
          <p:cNvSpPr/>
          <p:nvPr/>
        </p:nvSpPr>
        <p:spPr>
          <a:xfrm>
            <a:off x="8170219" y="2852021"/>
            <a:ext cx="98220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Cybersecurity</a:t>
            </a:r>
            <a:endParaRPr lang="en-US" sz="1200" dirty="0"/>
          </a:p>
        </p:txBody>
      </p:sp>
      <p:sp>
        <p:nvSpPr>
          <p:cNvPr id="52" name="Text 50"/>
          <p:cNvSpPr/>
          <p:nvPr/>
        </p:nvSpPr>
        <p:spPr>
          <a:xfrm>
            <a:off x="10295158" y="2852021"/>
            <a:ext cx="957067"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6.0% / 22.7%</a:t>
            </a:r>
            <a:endParaRPr lang="en-US" sz="1200" dirty="0"/>
          </a:p>
        </p:txBody>
      </p:sp>
      <p:sp>
        <p:nvSpPr>
          <p:cNvPr id="53" name="Shape 51"/>
          <p:cNvSpPr/>
          <p:nvPr/>
        </p:nvSpPr>
        <p:spPr>
          <a:xfrm>
            <a:off x="8170219" y="3103364"/>
            <a:ext cx="761953" cy="76158"/>
          </a:xfrm>
          <a:prstGeom prst="rect">
            <a:avLst/>
          </a:prstGeom>
          <a:solidFill>
            <a:srgbClr val="14284B"/>
          </a:solidFill>
          <a:ln/>
        </p:spPr>
      </p:sp>
      <p:sp>
        <p:nvSpPr>
          <p:cNvPr id="54" name="Shape 52"/>
          <p:cNvSpPr/>
          <p:nvPr/>
        </p:nvSpPr>
        <p:spPr>
          <a:xfrm>
            <a:off x="8170219" y="3217563"/>
            <a:ext cx="2882892" cy="76158"/>
          </a:xfrm>
          <a:prstGeom prst="rect">
            <a:avLst/>
          </a:prstGeom>
          <a:solidFill>
            <a:srgbClr val="D9731E"/>
          </a:solidFill>
          <a:ln/>
        </p:spPr>
      </p:sp>
      <p:sp>
        <p:nvSpPr>
          <p:cNvPr id="55" name="Text 53"/>
          <p:cNvSpPr/>
          <p:nvPr/>
        </p:nvSpPr>
        <p:spPr>
          <a:xfrm>
            <a:off x="8170219" y="3395314"/>
            <a:ext cx="1109383"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Game consoles</a:t>
            </a:r>
            <a:endParaRPr lang="en-US" sz="1200" dirty="0"/>
          </a:p>
        </p:txBody>
      </p:sp>
      <p:sp>
        <p:nvSpPr>
          <p:cNvPr id="56" name="Text 54"/>
          <p:cNvSpPr/>
          <p:nvPr/>
        </p:nvSpPr>
        <p:spPr>
          <a:xfrm>
            <a:off x="10379845" y="3395314"/>
            <a:ext cx="872381"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3.5% / 6.7%</a:t>
            </a:r>
            <a:endParaRPr lang="en-US" sz="1200" dirty="0"/>
          </a:p>
        </p:txBody>
      </p:sp>
      <p:sp>
        <p:nvSpPr>
          <p:cNvPr id="57" name="Shape 55"/>
          <p:cNvSpPr/>
          <p:nvPr/>
        </p:nvSpPr>
        <p:spPr>
          <a:xfrm>
            <a:off x="8170219" y="3646656"/>
            <a:ext cx="444491" cy="76158"/>
          </a:xfrm>
          <a:prstGeom prst="rect">
            <a:avLst/>
          </a:prstGeom>
          <a:solidFill>
            <a:srgbClr val="14284B"/>
          </a:solidFill>
          <a:ln/>
        </p:spPr>
      </p:sp>
      <p:sp>
        <p:nvSpPr>
          <p:cNvPr id="58" name="Shape 56"/>
          <p:cNvSpPr/>
          <p:nvPr/>
        </p:nvSpPr>
        <p:spPr>
          <a:xfrm>
            <a:off x="8170219" y="3760856"/>
            <a:ext cx="850866" cy="76158"/>
          </a:xfrm>
          <a:prstGeom prst="rect">
            <a:avLst/>
          </a:prstGeom>
          <a:solidFill>
            <a:srgbClr val="D9731E"/>
          </a:solidFill>
          <a:ln/>
        </p:spPr>
      </p:sp>
      <p:sp>
        <p:nvSpPr>
          <p:cNvPr id="59" name="Text 57"/>
          <p:cNvSpPr/>
          <p:nvPr/>
        </p:nvSpPr>
        <p:spPr>
          <a:xfrm>
            <a:off x="8170219" y="3938606"/>
            <a:ext cx="133808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84B"/>
                </a:solidFill>
                <a:latin typeface="Arial" pitchFamily="34" charset="0"/>
                <a:ea typeface="Arial" pitchFamily="34" charset="-122"/>
                <a:cs typeface="Arial" pitchFamily="34" charset="-120"/>
              </a:rPr>
              <a:t>CEO appointments</a:t>
            </a:r>
            <a:endParaRPr lang="en-US" sz="1200" dirty="0"/>
          </a:p>
        </p:txBody>
      </p:sp>
      <p:sp>
        <p:nvSpPr>
          <p:cNvPr id="60" name="Text 58"/>
          <p:cNvSpPr/>
          <p:nvPr/>
        </p:nvSpPr>
        <p:spPr>
          <a:xfrm>
            <a:off x="10379845" y="3938606"/>
            <a:ext cx="872381"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4B"/>
                </a:solidFill>
                <a:latin typeface="Arial" pitchFamily="34" charset="0"/>
                <a:ea typeface="Arial" pitchFamily="34" charset="-122"/>
                <a:cs typeface="Arial" pitchFamily="34" charset="-120"/>
              </a:rPr>
              <a:t>2.2% / 6.0%</a:t>
            </a:r>
            <a:endParaRPr lang="en-US" sz="1200" dirty="0"/>
          </a:p>
        </p:txBody>
      </p:sp>
      <p:sp>
        <p:nvSpPr>
          <p:cNvPr id="61" name="Shape 59"/>
          <p:cNvSpPr/>
          <p:nvPr/>
        </p:nvSpPr>
        <p:spPr>
          <a:xfrm>
            <a:off x="8170219" y="4189949"/>
            <a:ext cx="279345" cy="76158"/>
          </a:xfrm>
          <a:prstGeom prst="rect">
            <a:avLst/>
          </a:prstGeom>
          <a:solidFill>
            <a:srgbClr val="14284B"/>
          </a:solidFill>
          <a:ln/>
        </p:spPr>
      </p:sp>
      <p:sp>
        <p:nvSpPr>
          <p:cNvPr id="62" name="Shape 60"/>
          <p:cNvSpPr/>
          <p:nvPr/>
        </p:nvSpPr>
        <p:spPr>
          <a:xfrm>
            <a:off x="8170219" y="4304148"/>
            <a:ext cx="761953" cy="76158"/>
          </a:xfrm>
          <a:prstGeom prst="rect">
            <a:avLst/>
          </a:prstGeom>
          <a:solidFill>
            <a:srgbClr val="D9731E"/>
          </a:solidFill>
          <a:ln/>
        </p:spPr>
      </p:sp>
      <p:sp>
        <p:nvSpPr>
          <p:cNvPr id="63" name="Text 61"/>
          <p:cNvSpPr/>
          <p:nvPr/>
        </p:nvSpPr>
        <p:spPr>
          <a:xfrm>
            <a:off x="812750" y="5638905"/>
            <a:ext cx="10883421" cy="22851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5F6B7C"/>
                </a:solidFill>
                <a:latin typeface="Arial" pitchFamily="34" charset="0"/>
                <a:ea typeface="Arial" pitchFamily="34" charset="-122"/>
                <a:cs typeface="Arial" pitchFamily="34" charset="-120"/>
              </a:rPr>
              <a:t>Some gaps are partly timing: the market news is older than our library. Treat this as a shortlist to review.</a:t>
            </a:r>
            <a:endParaRPr lang="en-US" sz="1159" dirty="0"/>
          </a:p>
        </p:txBody>
      </p:sp>
      <p:sp>
        <p:nvSpPr>
          <p:cNvPr id="64" name="Text 62"/>
          <p:cNvSpPr/>
          <p:nvPr/>
        </p:nvSpPr>
        <p:spPr>
          <a:xfrm>
            <a:off x="812750" y="6238278"/>
            <a:ext cx="308809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Content gap analysis and research assistant</a:t>
            </a:r>
            <a:endParaRPr lang="en-US" sz="1200" dirty="0"/>
          </a:p>
        </p:txBody>
      </p:sp>
      <p:sp>
        <p:nvSpPr>
          <p:cNvPr id="65" name="Text 63"/>
          <p:cNvSpPr/>
          <p:nvPr/>
        </p:nvSpPr>
        <p:spPr>
          <a:xfrm>
            <a:off x="11082624" y="6238278"/>
            <a:ext cx="34727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3 / 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2191927" cy="63477"/>
          </a:xfrm>
          <a:prstGeom prst="rect">
            <a:avLst/>
          </a:prstGeom>
          <a:solidFill>
            <a:srgbClr val="14284B"/>
          </a:solidFill>
          <a:ln/>
        </p:spPr>
      </p:sp>
      <p:sp>
        <p:nvSpPr>
          <p:cNvPr id="3" name="Text 1"/>
          <p:cNvSpPr/>
          <p:nvPr/>
        </p:nvSpPr>
        <p:spPr>
          <a:xfrm>
            <a:off x="812750" y="812749"/>
            <a:ext cx="10883421" cy="231531"/>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2B5C8F"/>
                </a:solidFill>
                <a:latin typeface="Arial" pitchFamily="34" charset="0"/>
                <a:ea typeface="Arial" pitchFamily="34" charset="-122"/>
                <a:cs typeface="Arial" pitchFamily="34" charset="-120"/>
              </a:rPr>
              <a:t>PARTS 4–5 · RESEARCH ASSISTANT AND EVALUATION</a:t>
            </a:r>
            <a:endParaRPr lang="en-US" sz="1159" dirty="0"/>
          </a:p>
        </p:txBody>
      </p:sp>
      <p:sp>
        <p:nvSpPr>
          <p:cNvPr id="4" name="Text 2"/>
          <p:cNvSpPr/>
          <p:nvPr/>
        </p:nvSpPr>
        <p:spPr>
          <a:xfrm>
            <a:off x="812750" y="1095039"/>
            <a:ext cx="10883421" cy="403244"/>
          </a:xfrm>
          <a:prstGeom prst="rect">
            <a:avLst/>
          </a:prstGeom>
          <a:noFill/>
          <a:ln/>
        </p:spPr>
        <p:txBody>
          <a:bodyPr wrap="square" lIns="0" tIns="0" rIns="0" bIns="0" rtlCol="0" anchor="t">
            <a:normAutofit/>
          </a:bodyPr>
          <a:lstStyle/>
          <a:p>
            <a:pPr algn="l" indent="0" marL="0">
              <a:lnSpc>
                <a:spcPts val="3022"/>
              </a:lnSpc>
              <a:buNone/>
            </a:pPr>
            <a:r>
              <a:rPr lang="en-US" sz="2748" b="1" dirty="0">
                <a:solidFill>
                  <a:srgbClr val="14284B"/>
                </a:solidFill>
                <a:latin typeface="Arial" pitchFamily="34" charset="0"/>
                <a:ea typeface="Arial" pitchFamily="34" charset="-122"/>
                <a:cs typeface="Arial" pitchFamily="34" charset="-120"/>
              </a:rPr>
              <a:t>Answers from our own library, with sources</a:t>
            </a:r>
            <a:endParaRPr lang="en-US" sz="2748" dirty="0"/>
          </a:p>
        </p:txBody>
      </p:sp>
      <p:sp>
        <p:nvSpPr>
          <p:cNvPr id="5" name="Shape 3"/>
          <p:cNvSpPr/>
          <p:nvPr/>
        </p:nvSpPr>
        <p:spPr>
          <a:xfrm>
            <a:off x="812750" y="1701431"/>
            <a:ext cx="5435717" cy="396638"/>
          </a:xfrm>
          <a:prstGeom prst="roundRect">
            <a:avLst>
              <a:gd name="adj" fmla="val 6404"/>
            </a:avLst>
          </a:prstGeom>
          <a:solidFill>
            <a:srgbClr val="14284B"/>
          </a:solidFill>
          <a:ln/>
        </p:spPr>
      </p:sp>
      <p:sp>
        <p:nvSpPr>
          <p:cNvPr id="6" name="Text 4"/>
          <p:cNvSpPr/>
          <p:nvPr/>
        </p:nvSpPr>
        <p:spPr>
          <a:xfrm>
            <a:off x="965150" y="1790331"/>
            <a:ext cx="5284845" cy="244238"/>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FAFAF7"/>
                </a:solidFill>
                <a:latin typeface="Arial" pitchFamily="34" charset="0"/>
                <a:ea typeface="Arial" pitchFamily="34" charset="-122"/>
                <a:cs typeface="Arial" pitchFamily="34" charset="-120"/>
              </a:rPr>
              <a:t>1 · A question comes in</a:t>
            </a:r>
            <a:endParaRPr lang="en-US" sz="1231" dirty="0"/>
          </a:p>
        </p:txBody>
      </p:sp>
      <p:pic>
        <p:nvPicPr>
          <p:cNvPr id="7" name="Image 0" descr="arrow-down">    </p:cNvPr>
          <p:cNvPicPr>
            <a:picLocks noChangeAspect="1"/>
          </p:cNvPicPr>
          <p:nvPr/>
        </p:nvPicPr>
        <p:blipFill>
          <a:blip r:embed="rId1"/>
          <a:srcRect l="-867" r="-867" t="0" b="0"/>
          <a:stretch/>
        </p:blipFill>
        <p:spPr>
          <a:xfrm>
            <a:off x="812750" y="2148866"/>
            <a:ext cx="126954" cy="168467"/>
          </a:xfrm>
          <a:prstGeom prst="rect">
            <a:avLst/>
          </a:prstGeom>
        </p:spPr>
      </p:pic>
      <p:sp>
        <p:nvSpPr>
          <p:cNvPr id="8" name="Shape 5"/>
          <p:cNvSpPr/>
          <p:nvPr/>
        </p:nvSpPr>
        <p:spPr>
          <a:xfrm>
            <a:off x="812750" y="2368130"/>
            <a:ext cx="5435717" cy="396563"/>
          </a:xfrm>
          <a:prstGeom prst="roundRect">
            <a:avLst>
              <a:gd name="adj" fmla="val 6405"/>
            </a:avLst>
          </a:prstGeom>
          <a:solidFill>
            <a:srgbClr val="14284B"/>
          </a:solidFill>
          <a:ln/>
        </p:spPr>
      </p:sp>
      <p:sp>
        <p:nvSpPr>
          <p:cNvPr id="9" name="Text 6"/>
          <p:cNvSpPr/>
          <p:nvPr/>
        </p:nvSpPr>
        <p:spPr>
          <a:xfrm>
            <a:off x="965150" y="2457030"/>
            <a:ext cx="5284845" cy="244163"/>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FAFAF7"/>
                </a:solidFill>
                <a:latin typeface="Arial" pitchFamily="34" charset="0"/>
                <a:ea typeface="Arial" pitchFamily="34" charset="-122"/>
                <a:cs typeface="Arial" pitchFamily="34" charset="-120"/>
              </a:rPr>
              <a:t>2 · Search 86,334 chunks from 15,000 articles</a:t>
            </a:r>
            <a:endParaRPr lang="en-US" sz="1231" dirty="0"/>
          </a:p>
        </p:txBody>
      </p:sp>
      <p:pic>
        <p:nvPicPr>
          <p:cNvPr id="10" name="Image 1" descr="arrow-down">    </p:cNvPr>
          <p:cNvPicPr>
            <a:picLocks noChangeAspect="1"/>
          </p:cNvPicPr>
          <p:nvPr/>
        </p:nvPicPr>
        <p:blipFill>
          <a:blip r:embed="rId2"/>
          <a:srcRect l="-867" r="-867" t="0" b="0"/>
          <a:stretch/>
        </p:blipFill>
        <p:spPr>
          <a:xfrm>
            <a:off x="812750" y="2815490"/>
            <a:ext cx="126954" cy="168467"/>
          </a:xfrm>
          <a:prstGeom prst="rect">
            <a:avLst/>
          </a:prstGeom>
        </p:spPr>
      </p:pic>
      <p:sp>
        <p:nvSpPr>
          <p:cNvPr id="11" name="Shape 7"/>
          <p:cNvSpPr/>
          <p:nvPr/>
        </p:nvSpPr>
        <p:spPr>
          <a:xfrm>
            <a:off x="812750" y="3034754"/>
            <a:ext cx="5435717" cy="396563"/>
          </a:xfrm>
          <a:prstGeom prst="roundRect">
            <a:avLst>
              <a:gd name="adj" fmla="val 6405"/>
            </a:avLst>
          </a:prstGeom>
          <a:solidFill>
            <a:srgbClr val="14284B"/>
          </a:solidFill>
          <a:ln/>
        </p:spPr>
      </p:sp>
      <p:sp>
        <p:nvSpPr>
          <p:cNvPr id="12" name="Text 8"/>
          <p:cNvSpPr/>
          <p:nvPr/>
        </p:nvSpPr>
        <p:spPr>
          <a:xfrm>
            <a:off x="965150" y="3123654"/>
            <a:ext cx="5284845" cy="244163"/>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FAFAF7"/>
                </a:solidFill>
                <a:latin typeface="Arial" pitchFamily="34" charset="0"/>
                <a:ea typeface="Arial" pitchFamily="34" charset="-122"/>
                <a:cs typeface="Arial" pitchFamily="34" charset="-120"/>
              </a:rPr>
              <a:t>3 · Keep the 5 best articles</a:t>
            </a:r>
            <a:endParaRPr lang="en-US" sz="1231" dirty="0"/>
          </a:p>
        </p:txBody>
      </p:sp>
      <p:pic>
        <p:nvPicPr>
          <p:cNvPr id="13" name="Image 2" descr="arrow-down">    </p:cNvPr>
          <p:cNvPicPr>
            <a:picLocks noChangeAspect="1"/>
          </p:cNvPicPr>
          <p:nvPr/>
        </p:nvPicPr>
        <p:blipFill>
          <a:blip r:embed="rId3"/>
          <a:srcRect l="-867" r="-867" t="0" b="0"/>
          <a:stretch/>
        </p:blipFill>
        <p:spPr>
          <a:xfrm>
            <a:off x="812750" y="3482113"/>
            <a:ext cx="126954" cy="168467"/>
          </a:xfrm>
          <a:prstGeom prst="rect">
            <a:avLst/>
          </a:prstGeom>
        </p:spPr>
      </p:pic>
      <p:sp>
        <p:nvSpPr>
          <p:cNvPr id="14" name="Shape 9"/>
          <p:cNvSpPr/>
          <p:nvPr/>
        </p:nvSpPr>
        <p:spPr>
          <a:xfrm>
            <a:off x="812750" y="3701377"/>
            <a:ext cx="5435717" cy="396563"/>
          </a:xfrm>
          <a:prstGeom prst="roundRect">
            <a:avLst>
              <a:gd name="adj" fmla="val 6405"/>
            </a:avLst>
          </a:prstGeom>
          <a:solidFill>
            <a:srgbClr val="14284B"/>
          </a:solidFill>
          <a:ln/>
        </p:spPr>
      </p:sp>
      <p:sp>
        <p:nvSpPr>
          <p:cNvPr id="15" name="Text 10"/>
          <p:cNvSpPr/>
          <p:nvPr/>
        </p:nvSpPr>
        <p:spPr>
          <a:xfrm>
            <a:off x="965150" y="3790277"/>
            <a:ext cx="5284845" cy="244163"/>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FAFAF7"/>
                </a:solidFill>
                <a:latin typeface="Arial" pitchFamily="34" charset="0"/>
                <a:ea typeface="Arial" pitchFamily="34" charset="-122"/>
                <a:cs typeface="Arial" pitchFamily="34" charset="-120"/>
              </a:rPr>
              <a:t>4 · GPT-4o-mini answers only from these</a:t>
            </a:r>
            <a:endParaRPr lang="en-US" sz="1231" dirty="0"/>
          </a:p>
        </p:txBody>
      </p:sp>
      <p:pic>
        <p:nvPicPr>
          <p:cNvPr id="16" name="Image 3" descr="arrow-down">    </p:cNvPr>
          <p:cNvPicPr>
            <a:picLocks noChangeAspect="1"/>
          </p:cNvPicPr>
          <p:nvPr/>
        </p:nvPicPr>
        <p:blipFill>
          <a:blip r:embed="rId4"/>
          <a:srcRect l="-867" r="-867" t="0" b="0"/>
          <a:stretch/>
        </p:blipFill>
        <p:spPr>
          <a:xfrm>
            <a:off x="812750" y="4148737"/>
            <a:ext cx="126954" cy="168467"/>
          </a:xfrm>
          <a:prstGeom prst="rect">
            <a:avLst/>
          </a:prstGeom>
        </p:spPr>
      </p:pic>
      <p:sp>
        <p:nvSpPr>
          <p:cNvPr id="17" name="Shape 11"/>
          <p:cNvSpPr/>
          <p:nvPr/>
        </p:nvSpPr>
        <p:spPr>
          <a:xfrm>
            <a:off x="812750" y="4368002"/>
            <a:ext cx="5435717" cy="396563"/>
          </a:xfrm>
          <a:prstGeom prst="roundRect">
            <a:avLst>
              <a:gd name="adj" fmla="val 6405"/>
            </a:avLst>
          </a:prstGeom>
          <a:solidFill>
            <a:srgbClr val="14284B"/>
          </a:solidFill>
          <a:ln/>
        </p:spPr>
      </p:sp>
      <p:sp>
        <p:nvSpPr>
          <p:cNvPr id="18" name="Text 12"/>
          <p:cNvSpPr/>
          <p:nvPr/>
        </p:nvSpPr>
        <p:spPr>
          <a:xfrm>
            <a:off x="965150" y="4456902"/>
            <a:ext cx="5284845" cy="244163"/>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FAFAF7"/>
                </a:solidFill>
                <a:latin typeface="Arial" pitchFamily="34" charset="0"/>
                <a:ea typeface="Arial" pitchFamily="34" charset="-122"/>
                <a:cs typeface="Arial" pitchFamily="34" charset="-120"/>
              </a:rPr>
              <a:t>5 · Answer with [1] [2] sources, or “Not found”</a:t>
            </a:r>
            <a:endParaRPr lang="en-US" sz="1231" dirty="0"/>
          </a:p>
        </p:txBody>
      </p:sp>
      <p:sp>
        <p:nvSpPr>
          <p:cNvPr id="19" name="Shape 13"/>
          <p:cNvSpPr/>
          <p:nvPr/>
        </p:nvSpPr>
        <p:spPr>
          <a:xfrm>
            <a:off x="819100" y="4821712"/>
            <a:ext cx="5423017" cy="386429"/>
          </a:xfrm>
          <a:prstGeom prst="roundRect">
            <a:avLst>
              <a:gd name="adj" fmla="val 4930"/>
            </a:avLst>
          </a:prstGeom>
          <a:noFill/>
          <a:ln w="12700">
            <a:solidFill>
              <a:srgbClr val="2B5C8F"/>
            </a:solidFill>
            <a:prstDash val="dash"/>
          </a:ln>
        </p:spPr>
      </p:sp>
      <p:sp>
        <p:nvSpPr>
          <p:cNvPr id="20" name="Text 14"/>
          <p:cNvSpPr/>
          <p:nvPr/>
        </p:nvSpPr>
        <p:spPr>
          <a:xfrm>
            <a:off x="974811" y="4913923"/>
            <a:ext cx="5264943" cy="227407"/>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14284B"/>
                </a:solidFill>
                <a:latin typeface="Arial" pitchFamily="34" charset="0"/>
                <a:ea typeface="Arial" pitchFamily="34" charset="-122"/>
                <a:cs typeface="Arial" pitchFamily="34" charset="-120"/>
              </a:rPr>
              <a:t>Gap questions go to a second tool that reads the Part 3 table</a:t>
            </a:r>
            <a:endParaRPr lang="en-US" sz="1159" dirty="0"/>
          </a:p>
        </p:txBody>
      </p:sp>
      <p:sp>
        <p:nvSpPr>
          <p:cNvPr id="21" name="Text 15"/>
          <p:cNvSpPr/>
          <p:nvPr/>
        </p:nvSpPr>
        <p:spPr>
          <a:xfrm>
            <a:off x="6553249" y="1701431"/>
            <a:ext cx="4970707"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10 test questions · every answer checked by hand</a:t>
            </a:r>
            <a:endParaRPr lang="en-US" sz="1200" dirty="0"/>
          </a:p>
        </p:txBody>
      </p:sp>
      <p:sp>
        <p:nvSpPr>
          <p:cNvPr id="22" name="Shape 16"/>
          <p:cNvSpPr/>
          <p:nvPr/>
        </p:nvSpPr>
        <p:spPr>
          <a:xfrm>
            <a:off x="6553249" y="2016327"/>
            <a:ext cx="2349487" cy="1361930"/>
          </a:xfrm>
          <a:prstGeom prst="roundRect">
            <a:avLst>
              <a:gd name="adj" fmla="val 1865"/>
            </a:avLst>
          </a:prstGeom>
          <a:solidFill>
            <a:srgbClr val="F0F3F7"/>
          </a:solidFill>
          <a:ln/>
        </p:spPr>
      </p:sp>
      <p:sp>
        <p:nvSpPr>
          <p:cNvPr id="23" name="Shape 17"/>
          <p:cNvSpPr/>
          <p:nvPr/>
        </p:nvSpPr>
        <p:spPr>
          <a:xfrm>
            <a:off x="6553249" y="2016327"/>
            <a:ext cx="2349487" cy="1361930"/>
          </a:xfrm>
          <a:custGeom>
            <a:avLst/>
            <a:gdLst/>
            <a:ahLst/>
            <a:cxnLst/>
            <a:rect l="l" t="t" r="r" b="b"/>
            <a:pathLst>
              <a:path w="2349487" h="1361930">
                <a:moveTo>
                  <a:pt x="0" y="38100"/>
                </a:moveTo>
                <a:lnTo>
                  <a:pt x="0" y="25400"/>
                </a:lnTo>
                <a:arcTo hR="25400" wR="25400" stAng="10800000" swAng="5400000"/>
                <a:lnTo>
                  <a:pt x="2324087" y="0"/>
                </a:lnTo>
                <a:arcTo hR="25400" wR="25400" stAng="16200000" swAng="5400000"/>
                <a:lnTo>
                  <a:pt x="2349487" y="38100"/>
                </a:lnTo>
                <a:lnTo>
                  <a:pt x="0" y="38100"/>
                </a:lnTo>
                <a:close/>
              </a:path>
            </a:pathLst>
          </a:custGeom>
          <a:solidFill>
            <a:srgbClr val="14284B"/>
          </a:solidFill>
          <a:ln/>
        </p:spPr>
      </p:sp>
      <p:sp>
        <p:nvSpPr>
          <p:cNvPr id="24" name="Text 18"/>
          <p:cNvSpPr/>
          <p:nvPr/>
        </p:nvSpPr>
        <p:spPr>
          <a:xfrm>
            <a:off x="6731000" y="2227892"/>
            <a:ext cx="2053804" cy="505366"/>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14284B"/>
                </a:solidFill>
                <a:latin typeface="Arial" pitchFamily="34" charset="0"/>
                <a:ea typeface="Arial" pitchFamily="34" charset="-122"/>
                <a:cs typeface="Arial" pitchFamily="34" charset="-120"/>
              </a:rPr>
              <a:t>7/7</a:t>
            </a:r>
            <a:endParaRPr lang="en-US" sz="3600" dirty="0"/>
          </a:p>
        </p:txBody>
      </p:sp>
      <p:sp>
        <p:nvSpPr>
          <p:cNvPr id="25" name="Text 19"/>
          <p:cNvSpPr/>
          <p:nvPr/>
        </p:nvSpPr>
        <p:spPr>
          <a:xfrm>
            <a:off x="6731000" y="2771335"/>
            <a:ext cx="2053804" cy="45456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B4658"/>
                </a:solidFill>
                <a:latin typeface="Arial" pitchFamily="34" charset="0"/>
                <a:ea typeface="Arial" pitchFamily="34" charset="-122"/>
                <a:cs typeface="Arial" pitchFamily="34" charset="-120"/>
              </a:rPr>
              <a:t>found the right article in the top 5</a:t>
            </a:r>
            <a:endParaRPr lang="en-US" sz="1300" dirty="0"/>
          </a:p>
        </p:txBody>
      </p:sp>
      <p:sp>
        <p:nvSpPr>
          <p:cNvPr id="26" name="Shape 20"/>
          <p:cNvSpPr/>
          <p:nvPr/>
        </p:nvSpPr>
        <p:spPr>
          <a:xfrm>
            <a:off x="9029690" y="2016327"/>
            <a:ext cx="2349487" cy="1361930"/>
          </a:xfrm>
          <a:prstGeom prst="roundRect">
            <a:avLst>
              <a:gd name="adj" fmla="val 1865"/>
            </a:avLst>
          </a:prstGeom>
          <a:solidFill>
            <a:srgbClr val="F0F3F7"/>
          </a:solidFill>
          <a:ln/>
        </p:spPr>
      </p:sp>
      <p:sp>
        <p:nvSpPr>
          <p:cNvPr id="27" name="Shape 21"/>
          <p:cNvSpPr/>
          <p:nvPr/>
        </p:nvSpPr>
        <p:spPr>
          <a:xfrm>
            <a:off x="9029690" y="2016327"/>
            <a:ext cx="2349487" cy="1361930"/>
          </a:xfrm>
          <a:custGeom>
            <a:avLst/>
            <a:gdLst/>
            <a:ahLst/>
            <a:cxnLst/>
            <a:rect l="l" t="t" r="r" b="b"/>
            <a:pathLst>
              <a:path w="2349487" h="1361930">
                <a:moveTo>
                  <a:pt x="0" y="38100"/>
                </a:moveTo>
                <a:lnTo>
                  <a:pt x="0" y="25400"/>
                </a:lnTo>
                <a:arcTo hR="25400" wR="25400" stAng="10800000" swAng="5400000"/>
                <a:lnTo>
                  <a:pt x="2324087" y="0"/>
                </a:lnTo>
                <a:arcTo hR="25400" wR="25400" stAng="16200000" swAng="5400000"/>
                <a:lnTo>
                  <a:pt x="2349487" y="38100"/>
                </a:lnTo>
                <a:lnTo>
                  <a:pt x="0" y="38100"/>
                </a:lnTo>
                <a:close/>
              </a:path>
            </a:pathLst>
          </a:custGeom>
          <a:solidFill>
            <a:srgbClr val="14284B"/>
          </a:solidFill>
          <a:ln/>
        </p:spPr>
      </p:sp>
      <p:sp>
        <p:nvSpPr>
          <p:cNvPr id="28" name="Text 22"/>
          <p:cNvSpPr/>
          <p:nvPr/>
        </p:nvSpPr>
        <p:spPr>
          <a:xfrm>
            <a:off x="9207442" y="2227892"/>
            <a:ext cx="2053804" cy="505366"/>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14284B"/>
                </a:solidFill>
                <a:latin typeface="Arial" pitchFamily="34" charset="0"/>
                <a:ea typeface="Arial" pitchFamily="34" charset="-122"/>
                <a:cs typeface="Arial" pitchFamily="34" charset="-120"/>
              </a:rPr>
              <a:t>86%</a:t>
            </a:r>
            <a:endParaRPr lang="en-US" sz="3600" dirty="0"/>
          </a:p>
        </p:txBody>
      </p:sp>
      <p:sp>
        <p:nvSpPr>
          <p:cNvPr id="29" name="Text 23"/>
          <p:cNvSpPr/>
          <p:nvPr/>
        </p:nvSpPr>
        <p:spPr>
          <a:xfrm>
            <a:off x="9207442" y="2771335"/>
            <a:ext cx="2053804" cy="239985"/>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B4658"/>
                </a:solidFill>
                <a:latin typeface="Arial" pitchFamily="34" charset="0"/>
                <a:ea typeface="Arial" pitchFamily="34" charset="-122"/>
                <a:cs typeface="Arial" pitchFamily="34" charset="-120"/>
              </a:rPr>
              <a:t>of citations correct (6 of 7)</a:t>
            </a:r>
            <a:endParaRPr lang="en-US" sz="1300" dirty="0"/>
          </a:p>
        </p:txBody>
      </p:sp>
      <p:sp>
        <p:nvSpPr>
          <p:cNvPr id="30" name="Shape 24"/>
          <p:cNvSpPr/>
          <p:nvPr/>
        </p:nvSpPr>
        <p:spPr>
          <a:xfrm>
            <a:off x="6553249" y="3505209"/>
            <a:ext cx="2349487" cy="1361930"/>
          </a:xfrm>
          <a:prstGeom prst="roundRect">
            <a:avLst>
              <a:gd name="adj" fmla="val 1865"/>
            </a:avLst>
          </a:prstGeom>
          <a:solidFill>
            <a:srgbClr val="F0F3F7"/>
          </a:solidFill>
          <a:ln/>
        </p:spPr>
      </p:sp>
      <p:sp>
        <p:nvSpPr>
          <p:cNvPr id="31" name="Shape 25"/>
          <p:cNvSpPr/>
          <p:nvPr/>
        </p:nvSpPr>
        <p:spPr>
          <a:xfrm>
            <a:off x="6553249" y="3505209"/>
            <a:ext cx="2349487" cy="1361930"/>
          </a:xfrm>
          <a:custGeom>
            <a:avLst/>
            <a:gdLst/>
            <a:ahLst/>
            <a:cxnLst/>
            <a:rect l="l" t="t" r="r" b="b"/>
            <a:pathLst>
              <a:path w="2349487" h="1361930">
                <a:moveTo>
                  <a:pt x="0" y="38100"/>
                </a:moveTo>
                <a:lnTo>
                  <a:pt x="0" y="25400"/>
                </a:lnTo>
                <a:arcTo hR="25400" wR="25400" stAng="10800000" swAng="5400000"/>
                <a:lnTo>
                  <a:pt x="2324087" y="0"/>
                </a:lnTo>
                <a:arcTo hR="25400" wR="25400" stAng="16200000" swAng="5400000"/>
                <a:lnTo>
                  <a:pt x="2349487" y="38100"/>
                </a:lnTo>
                <a:lnTo>
                  <a:pt x="0" y="38100"/>
                </a:lnTo>
                <a:close/>
              </a:path>
            </a:pathLst>
          </a:custGeom>
          <a:solidFill>
            <a:srgbClr val="D9731E"/>
          </a:solidFill>
          <a:ln/>
        </p:spPr>
      </p:sp>
      <p:sp>
        <p:nvSpPr>
          <p:cNvPr id="32" name="Text 26"/>
          <p:cNvSpPr/>
          <p:nvPr/>
        </p:nvSpPr>
        <p:spPr>
          <a:xfrm>
            <a:off x="6731000" y="3716775"/>
            <a:ext cx="2053804" cy="505366"/>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14284B"/>
                </a:solidFill>
                <a:latin typeface="Arial" pitchFamily="34" charset="0"/>
                <a:ea typeface="Arial" pitchFamily="34" charset="-122"/>
                <a:cs typeface="Arial" pitchFamily="34" charset="-120"/>
              </a:rPr>
              <a:t>0/10</a:t>
            </a:r>
            <a:endParaRPr lang="en-US" sz="3600" dirty="0"/>
          </a:p>
        </p:txBody>
      </p:sp>
      <p:sp>
        <p:nvSpPr>
          <p:cNvPr id="33" name="Text 27"/>
          <p:cNvSpPr/>
          <p:nvPr/>
        </p:nvSpPr>
        <p:spPr>
          <a:xfrm>
            <a:off x="6731000" y="4260219"/>
            <a:ext cx="2053804" cy="45456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B4658"/>
                </a:solidFill>
                <a:latin typeface="Arial" pitchFamily="34" charset="0"/>
                <a:ea typeface="Arial" pitchFamily="34" charset="-122"/>
                <a:cs typeface="Arial" pitchFamily="34" charset="-120"/>
              </a:rPr>
              <a:t>answers with made-up facts</a:t>
            </a:r>
            <a:endParaRPr lang="en-US" sz="1300" dirty="0"/>
          </a:p>
        </p:txBody>
      </p:sp>
      <p:sp>
        <p:nvSpPr>
          <p:cNvPr id="34" name="Shape 28"/>
          <p:cNvSpPr/>
          <p:nvPr/>
        </p:nvSpPr>
        <p:spPr>
          <a:xfrm>
            <a:off x="9029690" y="3505209"/>
            <a:ext cx="2349487" cy="1361930"/>
          </a:xfrm>
          <a:prstGeom prst="roundRect">
            <a:avLst>
              <a:gd name="adj" fmla="val 1865"/>
            </a:avLst>
          </a:prstGeom>
          <a:solidFill>
            <a:srgbClr val="F0F3F7"/>
          </a:solidFill>
          <a:ln/>
        </p:spPr>
      </p:sp>
      <p:sp>
        <p:nvSpPr>
          <p:cNvPr id="35" name="Shape 29"/>
          <p:cNvSpPr/>
          <p:nvPr/>
        </p:nvSpPr>
        <p:spPr>
          <a:xfrm>
            <a:off x="9029690" y="3505209"/>
            <a:ext cx="2349487" cy="1361930"/>
          </a:xfrm>
          <a:custGeom>
            <a:avLst/>
            <a:gdLst/>
            <a:ahLst/>
            <a:cxnLst/>
            <a:rect l="l" t="t" r="r" b="b"/>
            <a:pathLst>
              <a:path w="2349487" h="1361930">
                <a:moveTo>
                  <a:pt x="0" y="38100"/>
                </a:moveTo>
                <a:lnTo>
                  <a:pt x="0" y="25400"/>
                </a:lnTo>
                <a:arcTo hR="25400" wR="25400" stAng="10800000" swAng="5400000"/>
                <a:lnTo>
                  <a:pt x="2324087" y="0"/>
                </a:lnTo>
                <a:arcTo hR="25400" wR="25400" stAng="16200000" swAng="5400000"/>
                <a:lnTo>
                  <a:pt x="2349487" y="38100"/>
                </a:lnTo>
                <a:lnTo>
                  <a:pt x="0" y="38100"/>
                </a:lnTo>
                <a:close/>
              </a:path>
            </a:pathLst>
          </a:custGeom>
          <a:solidFill>
            <a:srgbClr val="D9731E"/>
          </a:solidFill>
          <a:ln/>
        </p:spPr>
      </p:sp>
      <p:sp>
        <p:nvSpPr>
          <p:cNvPr id="36" name="Text 30"/>
          <p:cNvSpPr/>
          <p:nvPr/>
        </p:nvSpPr>
        <p:spPr>
          <a:xfrm>
            <a:off x="9207442" y="3716775"/>
            <a:ext cx="2053804" cy="505366"/>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14284B"/>
                </a:solidFill>
                <a:latin typeface="Arial" pitchFamily="34" charset="0"/>
                <a:ea typeface="Arial" pitchFamily="34" charset="-122"/>
                <a:cs typeface="Arial" pitchFamily="34" charset="-120"/>
              </a:rPr>
              <a:t>2/2</a:t>
            </a:r>
            <a:endParaRPr lang="en-US" sz="3600" dirty="0"/>
          </a:p>
        </p:txBody>
      </p:sp>
      <p:sp>
        <p:nvSpPr>
          <p:cNvPr id="37" name="Text 31"/>
          <p:cNvSpPr/>
          <p:nvPr/>
        </p:nvSpPr>
        <p:spPr>
          <a:xfrm>
            <a:off x="9207442" y="4260219"/>
            <a:ext cx="2053804" cy="45456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B4658"/>
                </a:solidFill>
                <a:latin typeface="Arial" pitchFamily="34" charset="0"/>
                <a:ea typeface="Arial" pitchFamily="34" charset="-122"/>
                <a:cs typeface="Arial" pitchFamily="34" charset="-120"/>
              </a:rPr>
              <a:t>out-of-scope questions declined</a:t>
            </a:r>
            <a:endParaRPr lang="en-US" sz="1300" dirty="0"/>
          </a:p>
        </p:txBody>
      </p:sp>
      <p:sp>
        <p:nvSpPr>
          <p:cNvPr id="38" name="Text 32"/>
          <p:cNvSpPr/>
          <p:nvPr/>
        </p:nvSpPr>
        <p:spPr>
          <a:xfrm>
            <a:off x="812750" y="5443038"/>
            <a:ext cx="10883421" cy="424378"/>
          </a:xfrm>
          <a:prstGeom prst="rect">
            <a:avLst/>
          </a:prstGeom>
          <a:noFill/>
          <a:ln/>
        </p:spPr>
        <p:txBody>
          <a:bodyPr wrap="square" lIns="0" tIns="0" rIns="0" bIns="0" rtlCol="0" anchor="t">
            <a:normAutofit/>
          </a:bodyPr>
          <a:lstStyle/>
          <a:p>
            <a:pPr algn="l" indent="0" marL="0">
              <a:lnSpc>
                <a:spcPts val="1610"/>
              </a:lnSpc>
              <a:buNone/>
            </a:pPr>
            <a:r>
              <a:rPr lang="en-US" sz="1193" b="1" dirty="0">
                <a:solidFill>
                  <a:srgbClr val="3B4658"/>
                </a:solidFill>
                <a:latin typeface="Arial" pitchFamily="34" charset="0"/>
                <a:ea typeface="Arial" pitchFamily="34" charset="-122"/>
                <a:cs typeface="Arial" pitchFamily="34" charset="-120"/>
              </a:rPr>
              <a:t>What I checked:</a:t>
            </a:r>
            <a:r>
              <a:rPr lang="en-US" sz="1193" dirty="0">
                <a:solidFill>
                  <a:srgbClr val="3B4658"/>
                </a:solidFill>
                <a:latin typeface="Arial" pitchFamily="34" charset="0"/>
                <a:ea typeface="Arial" pitchFamily="34" charset="-122"/>
                <a:cs typeface="Arial" pitchFamily="34" charset="-120"/>
              </a:rPr>
              <a:t> caught the gap tool disagreeing with Part 3 and fixed it · fixed a crash on unanswerable questions · re-checked every label after the final run</a:t>
            </a:r>
            <a:endParaRPr lang="en-US" sz="1193" dirty="0"/>
          </a:p>
        </p:txBody>
      </p:sp>
      <p:sp>
        <p:nvSpPr>
          <p:cNvPr id="39" name="Text 33"/>
          <p:cNvSpPr/>
          <p:nvPr/>
        </p:nvSpPr>
        <p:spPr>
          <a:xfrm>
            <a:off x="812750" y="6238277"/>
            <a:ext cx="308809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Content gap analysis and research assistant</a:t>
            </a:r>
            <a:endParaRPr lang="en-US" sz="1200" dirty="0"/>
          </a:p>
        </p:txBody>
      </p:sp>
      <p:sp>
        <p:nvSpPr>
          <p:cNvPr id="40" name="Text 34"/>
          <p:cNvSpPr/>
          <p:nvPr/>
        </p:nvSpPr>
        <p:spPr>
          <a:xfrm>
            <a:off x="11082624" y="6238277"/>
            <a:ext cx="34727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4 / 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12191927" cy="63477"/>
          </a:xfrm>
          <a:prstGeom prst="rect">
            <a:avLst/>
          </a:prstGeom>
          <a:solidFill>
            <a:srgbClr val="14284B"/>
          </a:solidFill>
          <a:ln/>
        </p:spPr>
      </p:sp>
      <p:sp>
        <p:nvSpPr>
          <p:cNvPr id="3" name="Text 1"/>
          <p:cNvSpPr/>
          <p:nvPr/>
        </p:nvSpPr>
        <p:spPr>
          <a:xfrm>
            <a:off x="812750" y="812750"/>
            <a:ext cx="10883421" cy="228135"/>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2B5C8F"/>
                </a:solidFill>
                <a:latin typeface="Arial" pitchFamily="34" charset="0"/>
                <a:ea typeface="Arial" pitchFamily="34" charset="-122"/>
                <a:cs typeface="Arial" pitchFamily="34" charset="-120"/>
              </a:rPr>
              <a:t>PART 6 · RECOMMENDATIONS</a:t>
            </a:r>
            <a:endParaRPr lang="en-US" sz="1159" dirty="0"/>
          </a:p>
        </p:txBody>
      </p:sp>
      <p:sp>
        <p:nvSpPr>
          <p:cNvPr id="4" name="Text 2"/>
          <p:cNvSpPr/>
          <p:nvPr/>
        </p:nvSpPr>
        <p:spPr>
          <a:xfrm>
            <a:off x="812750" y="1091642"/>
            <a:ext cx="10883421" cy="396979"/>
          </a:xfrm>
          <a:prstGeom prst="rect">
            <a:avLst/>
          </a:prstGeom>
          <a:noFill/>
          <a:ln/>
        </p:spPr>
        <p:txBody>
          <a:bodyPr wrap="square" lIns="0" tIns="0" rIns="0" bIns="0" rtlCol="0" anchor="t">
            <a:normAutofit/>
          </a:bodyPr>
          <a:lstStyle/>
          <a:p>
            <a:pPr algn="l" indent="0" marL="0">
              <a:lnSpc>
                <a:spcPts val="2974"/>
              </a:lnSpc>
              <a:buNone/>
            </a:pPr>
            <a:r>
              <a:rPr lang="en-US" sz="2704" b="1" dirty="0">
                <a:solidFill>
                  <a:srgbClr val="14284B"/>
                </a:solidFill>
                <a:latin typeface="Arial" pitchFamily="34" charset="0"/>
                <a:ea typeface="Arial" pitchFamily="34" charset="-122"/>
                <a:cs typeface="Arial" pitchFamily="34" charset="-120"/>
              </a:rPr>
              <a:t>Three moves for the content team</a:t>
            </a:r>
            <a:endParaRPr lang="en-US" sz="2704" dirty="0"/>
          </a:p>
        </p:txBody>
      </p:sp>
      <p:sp>
        <p:nvSpPr>
          <p:cNvPr id="5" name="Shape 3"/>
          <p:cNvSpPr/>
          <p:nvPr/>
        </p:nvSpPr>
        <p:spPr>
          <a:xfrm>
            <a:off x="812750" y="1717207"/>
            <a:ext cx="3386634" cy="3107591"/>
          </a:xfrm>
          <a:prstGeom prst="roundRect">
            <a:avLst>
              <a:gd name="adj" fmla="val 817"/>
            </a:avLst>
          </a:prstGeom>
          <a:solidFill>
            <a:srgbClr val="F0F3F7"/>
          </a:solidFill>
          <a:ln/>
        </p:spPr>
      </p:sp>
      <p:sp>
        <p:nvSpPr>
          <p:cNvPr id="6" name="Shape 4"/>
          <p:cNvSpPr/>
          <p:nvPr/>
        </p:nvSpPr>
        <p:spPr>
          <a:xfrm>
            <a:off x="812750" y="1717207"/>
            <a:ext cx="3386634" cy="3107591"/>
          </a:xfrm>
          <a:custGeom>
            <a:avLst/>
            <a:gdLst/>
            <a:ahLst/>
            <a:cxnLst/>
            <a:rect l="l" t="t" r="r" b="b"/>
            <a:pathLst>
              <a:path w="3386634" h="3107591">
                <a:moveTo>
                  <a:pt x="0" y="38100"/>
                </a:moveTo>
                <a:lnTo>
                  <a:pt x="0" y="25400"/>
                </a:lnTo>
                <a:arcTo hR="25400" wR="25400" stAng="10800000" swAng="5400000"/>
                <a:lnTo>
                  <a:pt x="3361234" y="0"/>
                </a:lnTo>
                <a:arcTo hR="25400" wR="25400" stAng="16200000" swAng="5400000"/>
                <a:lnTo>
                  <a:pt x="3386634" y="38100"/>
                </a:lnTo>
                <a:lnTo>
                  <a:pt x="0" y="38100"/>
                </a:lnTo>
                <a:close/>
              </a:path>
            </a:pathLst>
          </a:custGeom>
          <a:solidFill>
            <a:srgbClr val="D9731E"/>
          </a:solidFill>
          <a:ln/>
        </p:spPr>
      </p:sp>
      <p:sp>
        <p:nvSpPr>
          <p:cNvPr id="7" name="Text 5"/>
          <p:cNvSpPr/>
          <p:nvPr/>
        </p:nvSpPr>
        <p:spPr>
          <a:xfrm>
            <a:off x="1015937" y="1954209"/>
            <a:ext cx="3069667"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411"/>
                </a:solidFill>
                <a:latin typeface="Arial" pitchFamily="34" charset="0"/>
                <a:ea typeface="Arial" pitchFamily="34" charset="-122"/>
                <a:cs typeface="Arial" pitchFamily="34" charset="-120"/>
              </a:rPr>
              <a:t>01</a:t>
            </a:r>
            <a:endParaRPr lang="en-US" sz="1200" dirty="0"/>
          </a:p>
        </p:txBody>
      </p:sp>
      <p:sp>
        <p:nvSpPr>
          <p:cNvPr id="8" name="Text 6"/>
          <p:cNvSpPr/>
          <p:nvPr/>
        </p:nvSpPr>
        <p:spPr>
          <a:xfrm>
            <a:off x="1015937" y="2281783"/>
            <a:ext cx="3069667"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84B"/>
                </a:solidFill>
                <a:latin typeface="Arial" pitchFamily="34" charset="0"/>
                <a:ea typeface="Arial" pitchFamily="34" charset="-122"/>
                <a:cs typeface="Arial" pitchFamily="34" charset="-120"/>
              </a:rPr>
              <a:t>Write next</a:t>
            </a:r>
            <a:endParaRPr lang="en-US" sz="1600" dirty="0"/>
          </a:p>
        </p:txBody>
      </p:sp>
      <p:sp>
        <p:nvSpPr>
          <p:cNvPr id="9" name="Text 7"/>
          <p:cNvSpPr/>
          <p:nvPr/>
        </p:nvSpPr>
        <p:spPr>
          <a:xfrm>
            <a:off x="1015937" y="2639851"/>
            <a:ext cx="150507" cy="69383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731E"/>
                </a:solidFill>
                <a:latin typeface="Arial" pitchFamily="34" charset="0"/>
                <a:ea typeface="Arial" pitchFamily="34" charset="-122"/>
                <a:cs typeface="Arial" pitchFamily="34" charset="-120"/>
              </a:rPr>
              <a:t>■</a:t>
            </a:r>
            <a:endParaRPr lang="en-US" sz="1300" dirty="0"/>
          </a:p>
        </p:txBody>
      </p:sp>
      <p:sp>
        <p:nvSpPr>
          <p:cNvPr id="10" name="Text 8"/>
          <p:cNvSpPr/>
          <p:nvPr/>
        </p:nvSpPr>
        <p:spPr>
          <a:xfrm>
            <a:off x="1204482" y="2639851"/>
            <a:ext cx="2875466" cy="6938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Enterprise software series: Oracle, Windows Server, Linux and open source</a:t>
            </a:r>
            <a:endParaRPr lang="en-US" sz="1300" dirty="0"/>
          </a:p>
        </p:txBody>
      </p:sp>
      <p:sp>
        <p:nvSpPr>
          <p:cNvPr id="11" name="Text 9"/>
          <p:cNvSpPr/>
          <p:nvPr/>
        </p:nvSpPr>
        <p:spPr>
          <a:xfrm>
            <a:off x="1015937" y="3422563"/>
            <a:ext cx="150507" cy="47102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731E"/>
                </a:solidFill>
                <a:latin typeface="Arial" pitchFamily="34" charset="0"/>
                <a:ea typeface="Arial" pitchFamily="34" charset="-122"/>
                <a:cs typeface="Arial" pitchFamily="34" charset="-120"/>
              </a:rPr>
              <a:t>■</a:t>
            </a:r>
            <a:endParaRPr lang="en-US" sz="1300" dirty="0"/>
          </a:p>
        </p:txBody>
      </p:sp>
      <p:sp>
        <p:nvSpPr>
          <p:cNvPr id="12" name="Text 10"/>
          <p:cNvSpPr/>
          <p:nvPr/>
        </p:nvSpPr>
        <p:spPr>
          <a:xfrm>
            <a:off x="1204482" y="3422563"/>
            <a:ext cx="2875466" cy="471024"/>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Chips and hardware: Intel/AMD, servers, storage</a:t>
            </a:r>
            <a:endParaRPr lang="en-US" sz="1300" dirty="0"/>
          </a:p>
        </p:txBody>
      </p:sp>
      <p:sp>
        <p:nvSpPr>
          <p:cNvPr id="13" name="Text 11"/>
          <p:cNvSpPr/>
          <p:nvPr/>
        </p:nvSpPr>
        <p:spPr>
          <a:xfrm>
            <a:off x="1015937" y="3982461"/>
            <a:ext cx="150507" cy="47102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731E"/>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1204482" y="3982461"/>
            <a:ext cx="2875466" cy="471024"/>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Move some cybersecurity effort to these gaps</a:t>
            </a:r>
            <a:endParaRPr lang="en-US" sz="1300" dirty="0"/>
          </a:p>
        </p:txBody>
      </p:sp>
      <p:sp>
        <p:nvSpPr>
          <p:cNvPr id="15" name="Shape 13"/>
          <p:cNvSpPr/>
          <p:nvPr/>
        </p:nvSpPr>
        <p:spPr>
          <a:xfrm>
            <a:off x="4402571" y="1717207"/>
            <a:ext cx="3386710" cy="3107591"/>
          </a:xfrm>
          <a:prstGeom prst="roundRect">
            <a:avLst>
              <a:gd name="adj" fmla="val 817"/>
            </a:avLst>
          </a:prstGeom>
          <a:solidFill>
            <a:srgbClr val="F0F3F7"/>
          </a:solidFill>
          <a:ln/>
        </p:spPr>
      </p:sp>
      <p:sp>
        <p:nvSpPr>
          <p:cNvPr id="16" name="Shape 14"/>
          <p:cNvSpPr/>
          <p:nvPr/>
        </p:nvSpPr>
        <p:spPr>
          <a:xfrm>
            <a:off x="4402571" y="1717207"/>
            <a:ext cx="3386710" cy="3107591"/>
          </a:xfrm>
          <a:custGeom>
            <a:avLst/>
            <a:gdLst/>
            <a:ahLst/>
            <a:cxnLst/>
            <a:rect l="l" t="t" r="r" b="b"/>
            <a:pathLst>
              <a:path w="3386710" h="3107591">
                <a:moveTo>
                  <a:pt x="0" y="38100"/>
                </a:moveTo>
                <a:lnTo>
                  <a:pt x="0" y="25400"/>
                </a:lnTo>
                <a:arcTo hR="25400" wR="25400" stAng="10800000" swAng="5400000"/>
                <a:lnTo>
                  <a:pt x="3361310" y="0"/>
                </a:lnTo>
                <a:arcTo hR="25400" wR="25400" stAng="16200000" swAng="5400000"/>
                <a:lnTo>
                  <a:pt x="3386710" y="38100"/>
                </a:lnTo>
                <a:lnTo>
                  <a:pt x="0" y="38100"/>
                </a:lnTo>
                <a:close/>
              </a:path>
            </a:pathLst>
          </a:custGeom>
          <a:solidFill>
            <a:srgbClr val="14284B"/>
          </a:solidFill>
          <a:ln/>
        </p:spPr>
      </p:sp>
      <p:sp>
        <p:nvSpPr>
          <p:cNvPr id="17" name="Text 15"/>
          <p:cNvSpPr/>
          <p:nvPr/>
        </p:nvSpPr>
        <p:spPr>
          <a:xfrm>
            <a:off x="4605759" y="1954209"/>
            <a:ext cx="3069744"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C8F"/>
                </a:solidFill>
                <a:latin typeface="Arial" pitchFamily="34" charset="0"/>
                <a:ea typeface="Arial" pitchFamily="34" charset="-122"/>
                <a:cs typeface="Arial" pitchFamily="34" charset="-120"/>
              </a:rPr>
              <a:t>02</a:t>
            </a:r>
            <a:endParaRPr lang="en-US" sz="1200" dirty="0"/>
          </a:p>
        </p:txBody>
      </p:sp>
      <p:sp>
        <p:nvSpPr>
          <p:cNvPr id="18" name="Text 16"/>
          <p:cNvSpPr/>
          <p:nvPr/>
        </p:nvSpPr>
        <p:spPr>
          <a:xfrm>
            <a:off x="4605759" y="2281783"/>
            <a:ext cx="306974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84B"/>
                </a:solidFill>
                <a:latin typeface="Arial" pitchFamily="34" charset="0"/>
                <a:ea typeface="Arial" pitchFamily="34" charset="-122"/>
                <a:cs typeface="Arial" pitchFamily="34" charset="-120"/>
              </a:rPr>
              <a:t>Invest in</a:t>
            </a:r>
            <a:endParaRPr lang="en-US" sz="1600" dirty="0"/>
          </a:p>
        </p:txBody>
      </p:sp>
      <p:sp>
        <p:nvSpPr>
          <p:cNvPr id="19" name="Text 17"/>
          <p:cNvSpPr/>
          <p:nvPr/>
        </p:nvSpPr>
        <p:spPr>
          <a:xfrm>
            <a:off x="4605759" y="2639851"/>
            <a:ext cx="150507" cy="47102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5C8F"/>
                </a:solidFill>
                <a:latin typeface="Arial" pitchFamily="34" charset="0"/>
                <a:ea typeface="Arial" pitchFamily="34" charset="-122"/>
                <a:cs typeface="Arial" pitchFamily="34" charset="-120"/>
              </a:rPr>
              <a:t>■</a:t>
            </a:r>
            <a:endParaRPr lang="en-US" sz="1300" dirty="0"/>
          </a:p>
        </p:txBody>
      </p:sp>
      <p:sp>
        <p:nvSpPr>
          <p:cNvPr id="20" name="Text 18"/>
          <p:cNvSpPr/>
          <p:nvPr/>
        </p:nvSpPr>
        <p:spPr>
          <a:xfrm>
            <a:off x="4794303" y="2639851"/>
            <a:ext cx="2875543" cy="471024"/>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A current, dated news feed (e.g. GDELT) to spot emerging topics</a:t>
            </a:r>
            <a:endParaRPr lang="en-US" sz="1300" dirty="0"/>
          </a:p>
        </p:txBody>
      </p:sp>
      <p:sp>
        <p:nvSpPr>
          <p:cNvPr id="21" name="Text 19"/>
          <p:cNvSpPr/>
          <p:nvPr/>
        </p:nvSpPr>
        <p:spPr>
          <a:xfrm>
            <a:off x="4605759" y="3199749"/>
            <a:ext cx="150507" cy="47102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5C8F"/>
                </a:solidFill>
                <a:latin typeface="Arial" pitchFamily="34" charset="0"/>
                <a:ea typeface="Arial" pitchFamily="34" charset="-122"/>
                <a:cs typeface="Arial" pitchFamily="34" charset="-120"/>
              </a:rPr>
              <a:t>■</a:t>
            </a:r>
            <a:endParaRPr lang="en-US" sz="1300" dirty="0"/>
          </a:p>
        </p:txBody>
      </p:sp>
      <p:sp>
        <p:nvSpPr>
          <p:cNvPr id="22" name="Text 20"/>
          <p:cNvSpPr/>
          <p:nvPr/>
        </p:nvSpPr>
        <p:spPr>
          <a:xfrm>
            <a:off x="4794303" y="3199749"/>
            <a:ext cx="2875543" cy="471024"/>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Connecting the firm's real report library</a:t>
            </a:r>
            <a:endParaRPr lang="en-US" sz="1300" dirty="0"/>
          </a:p>
        </p:txBody>
      </p:sp>
      <p:sp>
        <p:nvSpPr>
          <p:cNvPr id="23" name="Text 21"/>
          <p:cNvSpPr/>
          <p:nvPr/>
        </p:nvSpPr>
        <p:spPr>
          <a:xfrm>
            <a:off x="4605759" y="3759646"/>
            <a:ext cx="150507" cy="47102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5C8F"/>
                </a:solidFill>
                <a:latin typeface="Arial" pitchFamily="34" charset="0"/>
                <a:ea typeface="Arial" pitchFamily="34" charset="-122"/>
                <a:cs typeface="Arial" pitchFamily="34" charset="-120"/>
              </a:rPr>
              <a:t>■</a:t>
            </a:r>
            <a:endParaRPr lang="en-US" sz="1300" dirty="0"/>
          </a:p>
        </p:txBody>
      </p:sp>
      <p:sp>
        <p:nvSpPr>
          <p:cNvPr id="24" name="Text 22"/>
          <p:cNvSpPr/>
          <p:nvPr/>
        </p:nvSpPr>
        <p:spPr>
          <a:xfrm>
            <a:off x="4794303" y="3759646"/>
            <a:ext cx="2875543" cy="471024"/>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A stronger tech filter and embedding model</a:t>
            </a:r>
            <a:endParaRPr lang="en-US" sz="1300" dirty="0"/>
          </a:p>
        </p:txBody>
      </p:sp>
      <p:sp>
        <p:nvSpPr>
          <p:cNvPr id="25" name="Shape 23"/>
          <p:cNvSpPr/>
          <p:nvPr/>
        </p:nvSpPr>
        <p:spPr>
          <a:xfrm>
            <a:off x="7992468" y="1717207"/>
            <a:ext cx="3386710" cy="3107591"/>
          </a:xfrm>
          <a:prstGeom prst="roundRect">
            <a:avLst>
              <a:gd name="adj" fmla="val 817"/>
            </a:avLst>
          </a:prstGeom>
          <a:solidFill>
            <a:srgbClr val="F0F3F7"/>
          </a:solidFill>
          <a:ln/>
        </p:spPr>
      </p:sp>
      <p:sp>
        <p:nvSpPr>
          <p:cNvPr id="26" name="Shape 24"/>
          <p:cNvSpPr/>
          <p:nvPr/>
        </p:nvSpPr>
        <p:spPr>
          <a:xfrm>
            <a:off x="7992468" y="1717207"/>
            <a:ext cx="3386710" cy="3107591"/>
          </a:xfrm>
          <a:custGeom>
            <a:avLst/>
            <a:gdLst/>
            <a:ahLst/>
            <a:cxnLst/>
            <a:rect l="l" t="t" r="r" b="b"/>
            <a:pathLst>
              <a:path w="3386710" h="3107591">
                <a:moveTo>
                  <a:pt x="0" y="38100"/>
                </a:moveTo>
                <a:lnTo>
                  <a:pt x="0" y="25400"/>
                </a:lnTo>
                <a:arcTo hR="25400" wR="25400" stAng="10800000" swAng="5400000"/>
                <a:lnTo>
                  <a:pt x="3361310" y="0"/>
                </a:lnTo>
                <a:arcTo hR="25400" wR="25400" stAng="16200000" swAng="5400000"/>
                <a:lnTo>
                  <a:pt x="3386710" y="38100"/>
                </a:lnTo>
                <a:lnTo>
                  <a:pt x="0" y="38100"/>
                </a:lnTo>
                <a:close/>
              </a:path>
            </a:pathLst>
          </a:custGeom>
          <a:solidFill>
            <a:srgbClr val="14284B"/>
          </a:solidFill>
          <a:ln/>
        </p:spPr>
      </p:sp>
      <p:sp>
        <p:nvSpPr>
          <p:cNvPr id="27" name="Text 25"/>
          <p:cNvSpPr/>
          <p:nvPr/>
        </p:nvSpPr>
        <p:spPr>
          <a:xfrm>
            <a:off x="8195656" y="1954209"/>
            <a:ext cx="3069744" cy="225040"/>
          </a:xfrm>
          <a:prstGeom prst="rect">
            <a:avLst/>
          </a:prstGeom>
          <a:noFill/>
          <a:ln/>
        </p:spPr>
        <p:txBody>
          <a:bodyPr wrap="square" lIns="0" tIns="0" rIns="0" bIns="0" rtlCol="0" anchor="t">
            <a:normAutofit/>
          </a:bodyPr>
          <a:lstStyle/>
          <a:p>
            <a:pPr algn="l" indent="0" marL="0">
              <a:lnSpc>
                <a:spcPts val="1575"/>
              </a:lnSpc>
              <a:buNone/>
            </a:pPr>
            <a:r>
              <a:rPr lang="en-US" sz="1125" b="1" dirty="0">
                <a:solidFill>
                  <a:srgbClr val="2B5C8F"/>
                </a:solidFill>
                <a:latin typeface="Arial" pitchFamily="34" charset="0"/>
                <a:ea typeface="Arial" pitchFamily="34" charset="-122"/>
                <a:cs typeface="Arial" pitchFamily="34" charset="-120"/>
              </a:rPr>
              <a:t>03</a:t>
            </a:r>
            <a:endParaRPr lang="en-US" sz="1125" dirty="0"/>
          </a:p>
        </p:txBody>
      </p:sp>
      <p:sp>
        <p:nvSpPr>
          <p:cNvPr id="28" name="Text 26"/>
          <p:cNvSpPr/>
          <p:nvPr/>
        </p:nvSpPr>
        <p:spPr>
          <a:xfrm>
            <a:off x="8195656" y="2268122"/>
            <a:ext cx="3069744" cy="253571"/>
          </a:xfrm>
          <a:prstGeom prst="rect">
            <a:avLst/>
          </a:prstGeom>
          <a:noFill/>
          <a:ln/>
        </p:spPr>
        <p:txBody>
          <a:bodyPr wrap="square" lIns="0" tIns="0" rIns="0" bIns="0" rtlCol="0" anchor="t">
            <a:normAutofit/>
          </a:bodyPr>
          <a:lstStyle/>
          <a:p>
            <a:pPr algn="l" indent="0" marL="0">
              <a:lnSpc>
                <a:spcPts val="1824"/>
              </a:lnSpc>
              <a:buNone/>
            </a:pPr>
            <a:r>
              <a:rPr lang="en-US" sz="1520" b="1" dirty="0">
                <a:solidFill>
                  <a:srgbClr val="14284B"/>
                </a:solidFill>
                <a:latin typeface="Arial" pitchFamily="34" charset="0"/>
                <a:ea typeface="Arial" pitchFamily="34" charset="-122"/>
                <a:cs typeface="Arial" pitchFamily="34" charset="-120"/>
              </a:rPr>
              <a:t>Improve the assistant</a:t>
            </a:r>
            <a:endParaRPr lang="en-US" sz="1520" dirty="0"/>
          </a:p>
        </p:txBody>
      </p:sp>
      <p:sp>
        <p:nvSpPr>
          <p:cNvPr id="29" name="Text 27"/>
          <p:cNvSpPr/>
          <p:nvPr/>
        </p:nvSpPr>
        <p:spPr>
          <a:xfrm>
            <a:off x="8195656" y="2610566"/>
            <a:ext cx="150507" cy="44241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5C8F"/>
                </a:solidFill>
                <a:latin typeface="Arial" pitchFamily="34" charset="0"/>
                <a:ea typeface="Arial" pitchFamily="34" charset="-122"/>
                <a:cs typeface="Arial" pitchFamily="34" charset="-120"/>
              </a:rPr>
              <a:t>■</a:t>
            </a:r>
            <a:endParaRPr lang="en-US" sz="1300" dirty="0"/>
          </a:p>
        </p:txBody>
      </p:sp>
      <p:sp>
        <p:nvSpPr>
          <p:cNvPr id="30" name="Text 28"/>
          <p:cNvSpPr/>
          <p:nvPr/>
        </p:nvSpPr>
        <p:spPr>
          <a:xfrm>
            <a:off x="8384200" y="2610566"/>
            <a:ext cx="2875543" cy="44241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Keyword + vector search, plus a reranker</a:t>
            </a:r>
            <a:endParaRPr lang="en-US" sz="1300" dirty="0"/>
          </a:p>
        </p:txBody>
      </p:sp>
      <p:sp>
        <p:nvSpPr>
          <p:cNvPr id="31" name="Text 29"/>
          <p:cNvSpPr/>
          <p:nvPr/>
        </p:nvSpPr>
        <p:spPr>
          <a:xfrm>
            <a:off x="8195656" y="3141858"/>
            <a:ext cx="150507" cy="44249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5C8F"/>
                </a:solidFill>
                <a:latin typeface="Arial" pitchFamily="34" charset="0"/>
                <a:ea typeface="Arial" pitchFamily="34" charset="-122"/>
                <a:cs typeface="Arial" pitchFamily="34" charset="-120"/>
              </a:rPr>
              <a:t>■</a:t>
            </a:r>
            <a:endParaRPr lang="en-US" sz="1300" dirty="0"/>
          </a:p>
        </p:txBody>
      </p:sp>
      <p:sp>
        <p:nvSpPr>
          <p:cNvPr id="32" name="Text 30"/>
          <p:cNvSpPr/>
          <p:nvPr/>
        </p:nvSpPr>
        <p:spPr>
          <a:xfrm>
            <a:off x="8384200" y="3141858"/>
            <a:ext cx="2875543" cy="442493"/>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Answer “how much do we have on X?”</a:t>
            </a:r>
            <a:endParaRPr lang="en-US" sz="1300" dirty="0"/>
          </a:p>
        </p:txBody>
      </p:sp>
      <p:sp>
        <p:nvSpPr>
          <p:cNvPr id="33" name="Text 31"/>
          <p:cNvSpPr/>
          <p:nvPr/>
        </p:nvSpPr>
        <p:spPr>
          <a:xfrm>
            <a:off x="8195656" y="3673224"/>
            <a:ext cx="150507" cy="44241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5C8F"/>
                </a:solidFill>
                <a:latin typeface="Arial" pitchFamily="34" charset="0"/>
                <a:ea typeface="Arial" pitchFamily="34" charset="-122"/>
                <a:cs typeface="Arial" pitchFamily="34" charset="-120"/>
              </a:rPr>
              <a:t>■</a:t>
            </a:r>
            <a:endParaRPr lang="en-US" sz="1300" dirty="0"/>
          </a:p>
        </p:txBody>
      </p:sp>
      <p:sp>
        <p:nvSpPr>
          <p:cNvPr id="34" name="Text 32"/>
          <p:cNvSpPr/>
          <p:nvPr/>
        </p:nvSpPr>
        <p:spPr>
          <a:xfrm>
            <a:off x="8384200" y="3673224"/>
            <a:ext cx="2875543" cy="44241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Re-ask automatically when a citation is missing</a:t>
            </a:r>
            <a:endParaRPr lang="en-US" sz="1300" dirty="0"/>
          </a:p>
        </p:txBody>
      </p:sp>
      <p:sp>
        <p:nvSpPr>
          <p:cNvPr id="35" name="Text 33"/>
          <p:cNvSpPr/>
          <p:nvPr/>
        </p:nvSpPr>
        <p:spPr>
          <a:xfrm>
            <a:off x="8195656" y="4204515"/>
            <a:ext cx="150507" cy="44249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5C8F"/>
                </a:solidFill>
                <a:latin typeface="Arial" pitchFamily="34" charset="0"/>
                <a:ea typeface="Arial" pitchFamily="34" charset="-122"/>
                <a:cs typeface="Arial" pitchFamily="34" charset="-120"/>
              </a:rPr>
              <a:t>■</a:t>
            </a:r>
            <a:endParaRPr lang="en-US" sz="1300" dirty="0"/>
          </a:p>
        </p:txBody>
      </p:sp>
      <p:sp>
        <p:nvSpPr>
          <p:cNvPr id="36" name="Text 34"/>
          <p:cNvSpPr/>
          <p:nvPr/>
        </p:nvSpPr>
        <p:spPr>
          <a:xfrm>
            <a:off x="8384200" y="4204515"/>
            <a:ext cx="2875543" cy="442493"/>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658"/>
                </a:solidFill>
                <a:latin typeface="Arial" pitchFamily="34" charset="0"/>
                <a:ea typeface="Arial" pitchFamily="34" charset="-122"/>
                <a:cs typeface="Arial" pitchFamily="34" charset="-120"/>
              </a:rPr>
              <a:t>A bigger test set, built with the content team</a:t>
            </a:r>
            <a:endParaRPr lang="en-US" sz="1300" dirty="0"/>
          </a:p>
        </p:txBody>
      </p:sp>
      <p:sp>
        <p:nvSpPr>
          <p:cNvPr id="37" name="Shape 35"/>
          <p:cNvSpPr/>
          <p:nvPr/>
        </p:nvSpPr>
        <p:spPr>
          <a:xfrm>
            <a:off x="812750" y="5078781"/>
            <a:ext cx="10566428" cy="763236"/>
          </a:xfrm>
          <a:prstGeom prst="roundRect">
            <a:avLst>
              <a:gd name="adj" fmla="val 3328"/>
            </a:avLst>
          </a:prstGeom>
          <a:solidFill>
            <a:srgbClr val="14284B"/>
          </a:solidFill>
          <a:ln/>
        </p:spPr>
      </p:sp>
      <p:sp>
        <p:nvSpPr>
          <p:cNvPr id="38" name="Text 36"/>
          <p:cNvSpPr/>
          <p:nvPr/>
        </p:nvSpPr>
        <p:spPr>
          <a:xfrm>
            <a:off x="1041298" y="5335935"/>
            <a:ext cx="6802323" cy="27432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AFAF7"/>
                </a:solidFill>
                <a:latin typeface="Arial" pitchFamily="34" charset="0"/>
                <a:ea typeface="Arial" pitchFamily="34" charset="-122"/>
                <a:cs typeface="Arial" pitchFamily="34" charset="-120"/>
              </a:rPr>
              <a:t>The top gaps share one theme: enterprise technology for business leaders.</a:t>
            </a:r>
            <a:endParaRPr lang="en-US" sz="1400" dirty="0"/>
          </a:p>
        </p:txBody>
      </p:sp>
      <p:sp>
        <p:nvSpPr>
          <p:cNvPr id="39" name="Text 37"/>
          <p:cNvSpPr/>
          <p:nvPr/>
        </p:nvSpPr>
        <p:spPr>
          <a:xfrm>
            <a:off x="7848682" y="5247097"/>
            <a:ext cx="3401006"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Arial" pitchFamily="34" charset="0"/>
                <a:ea typeface="Arial" pitchFamily="34" charset="-122"/>
                <a:cs typeface="Arial" pitchFamily="34" charset="-120"/>
              </a:rPr>
              <a:t>Runs end to end on a laptop; saved results make reruns fast.</a:t>
            </a:r>
            <a:endParaRPr lang="en-US" sz="1200" dirty="0"/>
          </a:p>
        </p:txBody>
      </p:sp>
      <p:sp>
        <p:nvSpPr>
          <p:cNvPr id="40" name="Text 38"/>
          <p:cNvSpPr/>
          <p:nvPr/>
        </p:nvSpPr>
        <p:spPr>
          <a:xfrm>
            <a:off x="812750" y="6238280"/>
            <a:ext cx="308809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Content gap analysis and research assistant</a:t>
            </a:r>
            <a:endParaRPr lang="en-US" sz="1200" dirty="0"/>
          </a:p>
        </p:txBody>
      </p:sp>
      <p:sp>
        <p:nvSpPr>
          <p:cNvPr id="41" name="Text 39"/>
          <p:cNvSpPr/>
          <p:nvPr/>
        </p:nvSpPr>
        <p:spPr>
          <a:xfrm>
            <a:off x="11082624" y="6238280"/>
            <a:ext cx="347279"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Arial" pitchFamily="34" charset="0"/>
                <a:ea typeface="Arial" pitchFamily="34" charset="-122"/>
                <a:cs typeface="Arial" pitchFamily="34" charset="-120"/>
              </a:rPr>
              <a:t>5 / 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 Gap Analysis and Research Assistant</dc:title>
  <dc:subject>Content Gap Analysis and Research Assistant</dc:subject>
  <dc:creator>Shubham Yadav</dc:creator>
  <cp:lastModifiedBy>Shubham Yadav</cp:lastModifiedBy>
  <cp:revision>1</cp:revision>
  <dcterms:created xsi:type="dcterms:W3CDTF">2026-09-27T16:22:35Z</dcterms:created>
  <dcterms:modified xsi:type="dcterms:W3CDTF">2026-09-27T16:22:35Z</dcterms:modified>
</cp:coreProperties>
</file>